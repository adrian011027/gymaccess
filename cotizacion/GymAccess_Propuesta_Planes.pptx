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4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063240"/>
            <a:ext cx="12191695" cy="50800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327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6000" b="1">
                <a:solidFill>
                  <a:srgbClr val="F5F6F8"/>
                </a:solidFill>
                <a:latin typeface="Segoe UI Semibold" panose="020B0702040204020203"/>
              </a:rPr>
              <a:t>GymAccess</a:t>
            </a:r>
            <a:endParaRPr sz="6000" b="1">
              <a:solidFill>
                <a:srgbClr val="F5F6F8"/>
              </a:solidFill>
              <a:latin typeface="Segoe UI Semibold" panose="020B0702040204020203"/>
            </a:endParaRPr>
          </a:p>
          <a:p>
            <a:pPr algn="ctr">
              <a:spcAft>
                <a:spcPts val="0"/>
              </a:spcAft>
            </a:pPr>
            <a:r>
              <a:rPr sz="2200" b="0">
                <a:solidFill>
                  <a:srgbClr val="C2C8D0"/>
                </a:solidFill>
                <a:latin typeface="Segoe UI" panose="020B0502040204020203"/>
              </a:rPr>
              <a:t>Sistema de gestión y control de acceso para tu gimnasio</a:t>
            </a:r>
            <a:endParaRPr sz="2200" b="0">
              <a:solidFill>
                <a:srgbClr val="C2C8D0"/>
              </a:solidFill>
              <a:latin typeface="Segoe UI" panose="020B0502040204020203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1033272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1000"/>
              </a:spcAft>
            </a:pPr>
            <a:r>
              <a:rPr sz="2000" b="1">
                <a:solidFill>
                  <a:srgbClr val="F5F6F8"/>
                </a:solidFill>
                <a:latin typeface="Segoe UI Semibold" panose="020B0702040204020203"/>
              </a:rPr>
              <a:t>Propuesta para: Round3Boxing</a:t>
            </a:r>
            <a:endParaRPr sz="2000" b="1">
              <a:solidFill>
                <a:srgbClr val="F5F6F8"/>
              </a:solidFill>
              <a:latin typeface="Segoe UI Semibold" panose="020B0702040204020203"/>
            </a:endParaRPr>
          </a:p>
          <a:p>
            <a:pPr algn="ctr">
              <a:spcAft>
                <a:spcPts val="400"/>
              </a:spcAft>
            </a:pPr>
            <a:r>
              <a:rPr sz="1600" b="0">
                <a:solidFill>
                  <a:srgbClr val="C2C8D0"/>
                </a:solidFill>
                <a:latin typeface="Segoe UI" panose="020B0502040204020203"/>
              </a:rPr>
              <a:t>Presenta: Adrian Valencia</a:t>
            </a:r>
            <a:endParaRPr sz="1600" b="0">
              <a:solidFill>
                <a:srgbClr val="C2C8D0"/>
              </a:solidFill>
              <a:latin typeface="Segoe UI" panose="020B0502040204020203"/>
            </a:endParaRPr>
          </a:p>
          <a:p>
            <a:pPr algn="ctr">
              <a:spcAft>
                <a:spcPts val="0"/>
              </a:spcAft>
            </a:pPr>
            <a:r>
              <a:rPr sz="1600" b="0">
                <a:solidFill>
                  <a:srgbClr val="8A929E"/>
                </a:solidFill>
                <a:latin typeface="Segoe UI" panose="020B0502040204020203"/>
              </a:rPr>
              <a:t>Julio 2026</a:t>
            </a:r>
            <a:endParaRPr sz="1600" b="0">
              <a:solidFill>
                <a:srgbClr val="8A929E"/>
              </a:solidFill>
              <a:latin typeface="Segoe UI" panose="020B0502040204020203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4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66928"/>
            <a:ext cx="822960" cy="63500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713232"/>
            <a:ext cx="109728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F5F6F8"/>
                </a:solidFill>
                <a:latin typeface="Segoe UI Semibold" panose="020B0702040204020203"/>
              </a:rPr>
              <a:t>Puntos a erradicar</a:t>
            </a:r>
            <a:endParaRPr sz="3200" b="1">
              <a:solidFill>
                <a:srgbClr val="F5F6F8"/>
              </a:solidFill>
              <a:latin typeface="Segoe UI Semibold" panose="020B0702040204020203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22960" y="1920240"/>
            <a:ext cx="1051560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800"/>
              </a:spcAft>
            </a:pPr>
            <a:r>
              <a:rPr sz="2000" b="0">
                <a:solidFill>
                  <a:srgbClr val="C2C8D0"/>
                </a:solidFill>
                <a:latin typeface="Segoe UI" panose="020B0502040204020203"/>
              </a:rPr>
              <a:t>▪  Socios que entran con la membresía vencida.</a:t>
            </a:r>
            <a:endParaRPr sz="2000" b="0">
              <a:solidFill>
                <a:srgbClr val="C2C8D0"/>
              </a:solidFill>
              <a:latin typeface="Segoe UI" panose="020B0502040204020203"/>
            </a:endParaRPr>
          </a:p>
          <a:p>
            <a:pPr algn="l">
              <a:spcAft>
                <a:spcPts val="1800"/>
              </a:spcAft>
            </a:pPr>
            <a:r>
              <a:rPr sz="2000" b="0">
                <a:solidFill>
                  <a:srgbClr val="C2C8D0"/>
                </a:solidFill>
                <a:latin typeface="Segoe UI" panose="020B0502040204020203"/>
              </a:rPr>
              <a:t>▪  Registros de cobranza en papel o Excel.</a:t>
            </a:r>
            <a:endParaRPr sz="2000" b="0">
              <a:solidFill>
                <a:srgbClr val="C2C8D0"/>
              </a:solidFill>
              <a:latin typeface="Segoe UI" panose="020B0502040204020203"/>
            </a:endParaRPr>
          </a:p>
          <a:p>
            <a:pPr algn="l">
              <a:spcAft>
                <a:spcPts val="1800"/>
              </a:spcAft>
            </a:pPr>
            <a:r>
              <a:rPr sz="2000" b="0">
                <a:solidFill>
                  <a:srgbClr val="C2C8D0"/>
                </a:solidFill>
                <a:latin typeface="Segoe UI" panose="020B0502040204020203"/>
              </a:rPr>
              <a:t>▪  Desconocimiento del total de socios activos.</a:t>
            </a:r>
            <a:endParaRPr sz="2000" b="0">
              <a:solidFill>
                <a:srgbClr val="C2C8D0"/>
              </a:solidFill>
              <a:latin typeface="Segoe UI" panose="020B0502040204020203"/>
            </a:endParaRPr>
          </a:p>
          <a:p>
            <a:pPr algn="l">
              <a:spcAft>
                <a:spcPts val="1800"/>
              </a:spcAft>
            </a:pPr>
            <a:r>
              <a:rPr sz="2000" b="0">
                <a:solidFill>
                  <a:srgbClr val="C2C8D0"/>
                </a:solidFill>
                <a:latin typeface="Segoe UI" panose="020B0502040204020203"/>
              </a:rPr>
              <a:t>▪  Recepción saturada en horas pico.</a:t>
            </a:r>
            <a:endParaRPr sz="2000" b="0">
              <a:solidFill>
                <a:srgbClr val="C2C8D0"/>
              </a:solidFill>
              <a:latin typeface="Segoe UI" panose="020B0502040204020203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4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66928"/>
            <a:ext cx="822960" cy="63500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713232"/>
            <a:ext cx="109728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F5F6F8"/>
                </a:solidFill>
                <a:latin typeface="Segoe UI Semibold" panose="020B0702040204020203"/>
              </a:rPr>
              <a:t>GymAccess: todo tu gimnasio en una sola pantalla</a:t>
            </a:r>
            <a:endParaRPr sz="3200" b="1">
              <a:solidFill>
                <a:srgbClr val="F5F6F8"/>
              </a:solidFill>
              <a:latin typeface="Segoe UI Semibold" panose="020B0702040204020203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22960" y="1920240"/>
            <a:ext cx="1051560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600"/>
              </a:spcAft>
            </a:pPr>
            <a:r>
              <a:rPr sz="2000" b="0">
                <a:solidFill>
                  <a:srgbClr val="C2C8D0"/>
                </a:solidFill>
                <a:latin typeface="Segoe UI" panose="020B0502040204020203"/>
              </a:rPr>
              <a:t>▪  Gestión de socios y membresías.</a:t>
            </a:r>
            <a:endParaRPr sz="2000" b="0">
              <a:solidFill>
                <a:srgbClr val="C2C8D0"/>
              </a:solidFill>
              <a:latin typeface="Segoe UI" panose="020B0502040204020203"/>
            </a:endParaRPr>
          </a:p>
          <a:p>
            <a:pPr algn="l">
              <a:spcAft>
                <a:spcPts val="1600"/>
              </a:spcAft>
            </a:pPr>
            <a:r>
              <a:rPr sz="2000" b="0">
                <a:solidFill>
                  <a:srgbClr val="C2C8D0"/>
                </a:solidFill>
                <a:latin typeface="Segoe UI" panose="020B0502040204020203"/>
              </a:rPr>
              <a:t>▪  Registro de pagos y cobranza.</a:t>
            </a:r>
            <a:endParaRPr sz="2000" b="0">
              <a:solidFill>
                <a:srgbClr val="C2C8D0"/>
              </a:solidFill>
              <a:latin typeface="Segoe UI" panose="020B0502040204020203"/>
            </a:endParaRPr>
          </a:p>
          <a:p>
            <a:pPr algn="l">
              <a:spcAft>
                <a:spcPts val="1600"/>
              </a:spcAft>
            </a:pPr>
            <a:r>
              <a:rPr sz="2000" b="0">
                <a:solidFill>
                  <a:srgbClr val="C2C8D0"/>
                </a:solidFill>
                <a:latin typeface="Segoe UI" panose="020B0502040204020203"/>
              </a:rPr>
              <a:t>▪  Control de acceso con código QR.</a:t>
            </a:r>
            <a:endParaRPr sz="2000" b="0">
              <a:solidFill>
                <a:srgbClr val="C2C8D0"/>
              </a:solidFill>
              <a:latin typeface="Segoe UI" panose="020B0502040204020203"/>
            </a:endParaRPr>
          </a:p>
          <a:p>
            <a:pPr algn="l">
              <a:spcAft>
                <a:spcPts val="1600"/>
              </a:spcAft>
            </a:pPr>
            <a:r>
              <a:rPr sz="2000" b="0">
                <a:solidFill>
                  <a:srgbClr val="C2C8D0"/>
                </a:solidFill>
                <a:latin typeface="Segoe UI" panose="020B0502040204020203"/>
              </a:rPr>
              <a:t>▪  Dashboard con reportes en tiempo real.</a:t>
            </a:r>
            <a:endParaRPr sz="2000" b="0">
              <a:solidFill>
                <a:srgbClr val="C2C8D0"/>
              </a:solidFill>
              <a:latin typeface="Segoe UI" panose="020B0502040204020203"/>
            </a:endParaRPr>
          </a:p>
          <a:p>
            <a:pPr algn="l">
              <a:spcAft>
                <a:spcPts val="1600"/>
              </a:spcAft>
            </a:pPr>
            <a:r>
              <a:rPr sz="2000" b="0">
                <a:solidFill>
                  <a:srgbClr val="C2C8D0"/>
                </a:solidFill>
                <a:latin typeface="Segoe UI" panose="020B0502040204020203"/>
              </a:rPr>
              <a:t>▪  100% en la nube: accede desde cualquier dispositivo.</a:t>
            </a:r>
            <a:endParaRPr sz="2000" b="0">
              <a:solidFill>
                <a:srgbClr val="C2C8D0"/>
              </a:solidFill>
              <a:latin typeface="Segoe UI" panose="020B0502040204020203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4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66928"/>
            <a:ext cx="822960" cy="63500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713232"/>
            <a:ext cx="109728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F5F6F8"/>
                </a:solidFill>
                <a:latin typeface="Segoe UI Semibold" panose="020B0702040204020203"/>
              </a:rPr>
              <a:t>Check-in en 2 segundos</a:t>
            </a:r>
            <a:endParaRPr sz="3200" b="1">
              <a:solidFill>
                <a:srgbClr val="F5F6F8"/>
              </a:solidFill>
              <a:latin typeface="Segoe UI Semibold" panose="020B0702040204020203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22960" y="1920240"/>
            <a:ext cx="1051560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300"/>
              </a:spcAft>
            </a:pPr>
            <a:r>
              <a:rPr sz="1700" b="0">
                <a:solidFill>
                  <a:srgbClr val="C2C8D0"/>
                </a:solidFill>
                <a:latin typeface="Segoe UI" panose="020B0502040204020203"/>
              </a:rPr>
              <a:t>▪  1. El socio muestra su código QR (celular o credencial impresa).</a:t>
            </a:r>
            <a:endParaRPr sz="1700" b="0">
              <a:solidFill>
                <a:srgbClr val="C2C8D0"/>
              </a:solidFill>
              <a:latin typeface="Segoe UI" panose="020B0502040204020203"/>
            </a:endParaRPr>
          </a:p>
          <a:p>
            <a:pPr algn="l">
              <a:spcAft>
                <a:spcPts val="1300"/>
              </a:spcAft>
            </a:pPr>
            <a:r>
              <a:rPr sz="1700" b="0">
                <a:solidFill>
                  <a:srgbClr val="C2C8D0"/>
                </a:solidFill>
                <a:latin typeface="Segoe UI" panose="020B0502040204020203"/>
              </a:rPr>
              <a:t>▪  2. Recepción lo escanea con el lector.</a:t>
            </a:r>
            <a:endParaRPr sz="1700" b="0">
              <a:solidFill>
                <a:srgbClr val="C2C8D0"/>
              </a:solidFill>
              <a:latin typeface="Segoe UI" panose="020B0502040204020203"/>
            </a:endParaRPr>
          </a:p>
          <a:p>
            <a:pPr algn="l">
              <a:spcAft>
                <a:spcPts val="1300"/>
              </a:spcAft>
            </a:pPr>
            <a:r>
              <a:rPr sz="1700" b="0">
                <a:solidFill>
                  <a:srgbClr val="C2C8D0"/>
                </a:solidFill>
                <a:latin typeface="Segoe UI" panose="020B0502040204020203"/>
              </a:rPr>
              <a:t>▪  3. El sistema valida su membresía al instante.</a:t>
            </a:r>
            <a:endParaRPr sz="1700" b="0">
              <a:solidFill>
                <a:srgbClr val="C2C8D0"/>
              </a:solidFill>
              <a:latin typeface="Segoe UI" panose="020B0502040204020203"/>
            </a:endParaRPr>
          </a:p>
          <a:p>
            <a:pPr algn="l">
              <a:spcAft>
                <a:spcPts val="1300"/>
              </a:spcAft>
            </a:pPr>
            <a:r>
              <a:rPr sz="1700" b="0">
                <a:solidFill>
                  <a:srgbClr val="C2C8D0"/>
                </a:solidFill>
                <a:latin typeface="Segoe UI" panose="020B0502040204020203"/>
              </a:rPr>
              <a:t>▪  4. Membresía válida = check en verde.</a:t>
            </a:r>
            <a:endParaRPr sz="1700" b="0">
              <a:solidFill>
                <a:srgbClr val="C2C8D0"/>
              </a:solidFill>
              <a:latin typeface="Segoe UI" panose="020B0502040204020203"/>
            </a:endParaRPr>
          </a:p>
          <a:p>
            <a:pPr algn="l">
              <a:spcAft>
                <a:spcPts val="1300"/>
              </a:spcAft>
            </a:pPr>
            <a:r>
              <a:rPr sz="1700" b="0">
                <a:solidFill>
                  <a:srgbClr val="C2C8D0"/>
                </a:solidFill>
                <a:latin typeface="Segoe UI" panose="020B0502040204020203"/>
              </a:rPr>
              <a:t>▪  5. Membresía vencida = acceso denegado automáticamente. Se acabó la morosidad.</a:t>
            </a:r>
            <a:endParaRPr sz="1700" b="0">
              <a:solidFill>
                <a:srgbClr val="C2C8D0"/>
              </a:solidFill>
              <a:latin typeface="Segoe UI" panose="020B0502040204020203"/>
            </a:endParaRPr>
          </a:p>
          <a:p>
            <a:pPr algn="l">
              <a:spcAft>
                <a:spcPts val="1300"/>
              </a:spcAft>
            </a:pPr>
            <a:r>
              <a:rPr sz="1700" b="0">
                <a:solidFill>
                  <a:srgbClr val="C2C8D0"/>
                </a:solidFill>
                <a:latin typeface="Segoe UI" panose="020B0502040204020203"/>
              </a:rPr>
              <a:t>▪  6. Membresía próxima a vencer = recordatorio al instante.</a:t>
            </a:r>
            <a:endParaRPr sz="1700" b="0">
              <a:solidFill>
                <a:srgbClr val="C2C8D0"/>
              </a:solidFill>
              <a:latin typeface="Segoe UI" panose="020B0502040204020203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4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66928"/>
            <a:ext cx="822960" cy="63500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713232"/>
            <a:ext cx="109728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F5F6F8"/>
                </a:solidFill>
                <a:latin typeface="Segoe UI Semibold" panose="020B0702040204020203"/>
              </a:rPr>
              <a:t>Elige tu plan</a:t>
            </a:r>
            <a:endParaRPr sz="3200" b="1">
              <a:solidFill>
                <a:srgbClr val="F5F6F8"/>
              </a:solidFill>
              <a:latin typeface="Segoe UI Semibold" panose="020B0702040204020203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22960" y="1600200"/>
          <a:ext cx="10515600" cy="336499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663440"/>
                <a:gridCol w="2926080"/>
                <a:gridCol w="2926080"/>
              </a:tblGrid>
              <a:tr h="420624">
                <a:tc>
                  <a:txBody>
                    <a:bodyPr wrap="square"/>
                    <a:lstStyle/>
                    <a:p>
                      <a:pPr algn="l"/>
                      <a:endParaRPr sz="1300" b="1">
                        <a:solidFill>
                          <a:srgbClr val="F5F6F8"/>
                        </a:solidFill>
                        <a:latin typeface="Segoe UI Semibold" panose="020B0702040204020203"/>
                      </a:endParaRPr>
                    </a:p>
                  </a:txBody>
                  <a:tcPr marL="109728" marR="109728" anchor="ctr">
                    <a:solidFill>
                      <a:srgbClr val="E539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5F6F8"/>
                          </a:solidFill>
                          <a:latin typeface="Segoe UI Semibold" panose="020B0702040204020203"/>
                        </a:rPr>
                        <a:t>Plan Arranque</a:t>
                      </a:r>
                      <a:endParaRPr sz="1300" b="1">
                        <a:solidFill>
                          <a:srgbClr val="F5F6F8"/>
                        </a:solidFill>
                        <a:latin typeface="Segoe UI Semibold" panose="020B0702040204020203"/>
                      </a:endParaRPr>
                    </a:p>
                  </a:txBody>
                  <a:tcPr marL="109728" marR="109728" anchor="ctr">
                    <a:solidFill>
                      <a:srgbClr val="E539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5F6F8"/>
                          </a:solidFill>
                          <a:latin typeface="Segoe UI Semibold" panose="020B0702040204020203"/>
                        </a:rPr>
                        <a:t>Plan Crecimiento</a:t>
                      </a:r>
                      <a:endParaRPr sz="1300" b="1">
                        <a:solidFill>
                          <a:srgbClr val="F5F6F8"/>
                        </a:solidFill>
                        <a:latin typeface="Segoe UI Semibold" panose="020B0702040204020203"/>
                      </a:endParaRPr>
                    </a:p>
                  </a:txBody>
                  <a:tcPr marL="109728" marR="109728" anchor="ctr">
                    <a:solidFill>
                      <a:srgbClr val="E53935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5F6F8"/>
                          </a:solidFill>
                          <a:latin typeface="Segoe UI Semibold" panose="020B0702040204020203"/>
                        </a:rPr>
                        <a:t>Socios</a:t>
                      </a:r>
                      <a:endParaRPr sz="1300" b="1">
                        <a:solidFill>
                          <a:srgbClr val="F5F6F8"/>
                        </a:solidFill>
                        <a:latin typeface="Segoe UI Semibold" panose="020B0702040204020203"/>
                      </a:endParaRPr>
                    </a:p>
                  </a:txBody>
                  <a:tcPr marL="109728" marR="109728" anchor="ctr">
                    <a:solidFill>
                      <a:srgbClr val="16191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C2C8D0"/>
                          </a:solidFill>
                          <a:latin typeface="Segoe UI" panose="020B0502040204020203"/>
                        </a:rPr>
                        <a:t>Hasta 200</a:t>
                      </a:r>
                      <a:endParaRPr sz="1300" b="0">
                        <a:solidFill>
                          <a:srgbClr val="C2C8D0"/>
                        </a:solidFill>
                        <a:latin typeface="Segoe UI" panose="020B0502040204020203"/>
                      </a:endParaRPr>
                    </a:p>
                  </a:txBody>
                  <a:tcPr marL="109728" marR="109728" anchor="ctr">
                    <a:solidFill>
                      <a:srgbClr val="16191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C2C8D0"/>
                          </a:solidFill>
                          <a:latin typeface="Segoe UI" panose="020B0502040204020203"/>
                        </a:rPr>
                        <a:t>Hasta 600 en total</a:t>
                      </a:r>
                      <a:endParaRPr sz="1300" b="0">
                        <a:solidFill>
                          <a:srgbClr val="C2C8D0"/>
                        </a:solidFill>
                        <a:latin typeface="Segoe UI" panose="020B0502040204020203"/>
                      </a:endParaRPr>
                    </a:p>
                  </a:txBody>
                  <a:tcPr marL="109728" marR="109728" anchor="ctr">
                    <a:solidFill>
                      <a:srgbClr val="16191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5F6F8"/>
                          </a:solidFill>
                          <a:latin typeface="Segoe UI Semibold" panose="020B0702040204020203"/>
                        </a:rPr>
                        <a:t>Sucursales</a:t>
                      </a:r>
                      <a:endParaRPr sz="1300" b="1">
                        <a:solidFill>
                          <a:srgbClr val="F5F6F8"/>
                        </a:solidFill>
                        <a:latin typeface="Segoe UI Semibold" panose="020B0702040204020203"/>
                      </a:endParaRPr>
                    </a:p>
                  </a:txBody>
                  <a:tcPr marL="109728" marR="109728" anchor="ctr">
                    <a:solidFill>
                      <a:srgbClr val="1C202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C2C8D0"/>
                          </a:solidFill>
                          <a:latin typeface="Segoe UI" panose="020B0502040204020203"/>
                        </a:rPr>
                        <a:t>1</a:t>
                      </a:r>
                      <a:endParaRPr sz="1300" b="0">
                        <a:solidFill>
                          <a:srgbClr val="C2C8D0"/>
                        </a:solidFill>
                        <a:latin typeface="Segoe UI" panose="020B0502040204020203"/>
                      </a:endParaRPr>
                    </a:p>
                  </a:txBody>
                  <a:tcPr marL="109728" marR="109728" anchor="ctr">
                    <a:solidFill>
                      <a:srgbClr val="1C202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C2C8D0"/>
                          </a:solidFill>
                          <a:latin typeface="Segoe UI" panose="020B0502040204020203"/>
                        </a:rPr>
                        <a:t>Hasta 3</a:t>
                      </a:r>
                      <a:endParaRPr sz="1300" b="0">
                        <a:solidFill>
                          <a:srgbClr val="C2C8D0"/>
                        </a:solidFill>
                        <a:latin typeface="Segoe UI" panose="020B0502040204020203"/>
                      </a:endParaRPr>
                    </a:p>
                  </a:txBody>
                  <a:tcPr marL="109728" marR="109728" anchor="ctr">
                    <a:solidFill>
                      <a:srgbClr val="1C2027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5F6F8"/>
                          </a:solidFill>
                          <a:latin typeface="Segoe UI Semibold" panose="020B0702040204020203"/>
                        </a:rPr>
                        <a:t>Empleados (recepción, admin y coaches)</a:t>
                      </a:r>
                      <a:endParaRPr sz="1300" b="1">
                        <a:solidFill>
                          <a:srgbClr val="F5F6F8"/>
                        </a:solidFill>
                        <a:latin typeface="Segoe UI Semibold" panose="020B0702040204020203"/>
                      </a:endParaRPr>
                    </a:p>
                  </a:txBody>
                  <a:tcPr marL="109728" marR="109728" anchor="ctr">
                    <a:solidFill>
                      <a:srgbClr val="16191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C2C8D0"/>
                          </a:solidFill>
                          <a:latin typeface="Segoe UI" panose="020B0502040204020203"/>
                        </a:rPr>
                        <a:t>Hasta 20</a:t>
                      </a:r>
                      <a:endParaRPr sz="1300" b="0">
                        <a:solidFill>
                          <a:srgbClr val="C2C8D0"/>
                        </a:solidFill>
                        <a:latin typeface="Segoe UI" panose="020B0502040204020203"/>
                      </a:endParaRPr>
                    </a:p>
                  </a:txBody>
                  <a:tcPr marL="109728" marR="109728" anchor="ctr">
                    <a:solidFill>
                      <a:srgbClr val="16191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C2C8D0"/>
                          </a:solidFill>
                          <a:latin typeface="Segoe UI" panose="020B0502040204020203"/>
                        </a:rPr>
                        <a:t>Hasta 20 por sucursal</a:t>
                      </a:r>
                      <a:endParaRPr sz="1300" b="0">
                        <a:solidFill>
                          <a:srgbClr val="C2C8D0"/>
                        </a:solidFill>
                        <a:latin typeface="Segoe UI" panose="020B0502040204020203"/>
                      </a:endParaRPr>
                    </a:p>
                  </a:txBody>
                  <a:tcPr marL="109728" marR="109728" anchor="ctr">
                    <a:solidFill>
                      <a:srgbClr val="16191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5F6F8"/>
                          </a:solidFill>
                          <a:latin typeface="Segoe UI Semibold" panose="020B0702040204020203"/>
                        </a:rPr>
                        <a:t>Acceso QR · pagos · cobranza · reportes</a:t>
                      </a:r>
                      <a:endParaRPr sz="1300" b="1">
                        <a:solidFill>
                          <a:srgbClr val="F5F6F8"/>
                        </a:solidFill>
                        <a:latin typeface="Segoe UI Semibold" panose="020B0702040204020203"/>
                      </a:endParaRPr>
                    </a:p>
                  </a:txBody>
                  <a:tcPr marL="109728" marR="109728" anchor="ctr">
                    <a:solidFill>
                      <a:srgbClr val="1C202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C2C8D0"/>
                          </a:solidFill>
                          <a:latin typeface="Segoe UI" panose="020B0502040204020203"/>
                        </a:rPr>
                        <a:t>✔</a:t>
                      </a:r>
                      <a:endParaRPr sz="1300" b="0">
                        <a:solidFill>
                          <a:srgbClr val="C2C8D0"/>
                        </a:solidFill>
                        <a:latin typeface="Segoe UI" panose="020B0502040204020203"/>
                      </a:endParaRPr>
                    </a:p>
                  </a:txBody>
                  <a:tcPr marL="109728" marR="109728" anchor="ctr">
                    <a:solidFill>
                      <a:srgbClr val="1C202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C2C8D0"/>
                          </a:solidFill>
                          <a:latin typeface="Segoe UI" panose="020B0502040204020203"/>
                        </a:rPr>
                        <a:t>✔</a:t>
                      </a:r>
                      <a:endParaRPr sz="1300" b="0">
                        <a:solidFill>
                          <a:srgbClr val="C2C8D0"/>
                        </a:solidFill>
                        <a:latin typeface="Segoe UI" panose="020B0502040204020203"/>
                      </a:endParaRPr>
                    </a:p>
                  </a:txBody>
                  <a:tcPr marL="109728" marR="109728" anchor="ctr">
                    <a:solidFill>
                      <a:srgbClr val="1C2027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5F6F8"/>
                          </a:solidFill>
                          <a:latin typeface="Segoe UI Semibold" panose="020B0702040204020203"/>
                        </a:rPr>
                        <a:t>Dashboard por sucursal</a:t>
                      </a:r>
                      <a:endParaRPr sz="1300" b="1">
                        <a:solidFill>
                          <a:srgbClr val="F5F6F8"/>
                        </a:solidFill>
                        <a:latin typeface="Segoe UI Semibold" panose="020B0702040204020203"/>
                      </a:endParaRPr>
                    </a:p>
                  </a:txBody>
                  <a:tcPr marL="109728" marR="109728" anchor="ctr">
                    <a:solidFill>
                      <a:srgbClr val="16191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C2C8D0"/>
                          </a:solidFill>
                          <a:latin typeface="Segoe UI" panose="020B0502040204020203"/>
                        </a:rPr>
                        <a:t>—</a:t>
                      </a:r>
                      <a:endParaRPr sz="1300" b="0">
                        <a:solidFill>
                          <a:srgbClr val="C2C8D0"/>
                        </a:solidFill>
                        <a:latin typeface="Segoe UI" panose="020B0502040204020203"/>
                      </a:endParaRPr>
                    </a:p>
                  </a:txBody>
                  <a:tcPr marL="109728" marR="109728" anchor="ctr">
                    <a:solidFill>
                      <a:srgbClr val="16191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C2C8D0"/>
                          </a:solidFill>
                          <a:latin typeface="Segoe UI" panose="020B0502040204020203"/>
                        </a:rPr>
                        <a:t>✔</a:t>
                      </a:r>
                      <a:endParaRPr sz="1300" b="0">
                        <a:solidFill>
                          <a:srgbClr val="C2C8D0"/>
                        </a:solidFill>
                        <a:latin typeface="Segoe UI" panose="020B0502040204020203"/>
                      </a:endParaRPr>
                    </a:p>
                  </a:txBody>
                  <a:tcPr marL="109728" marR="109728" anchor="ctr">
                    <a:solidFill>
                      <a:srgbClr val="16191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5F6F8"/>
                          </a:solidFill>
                          <a:latin typeface="Segoe UI Semibold" panose="020B0702040204020203"/>
                        </a:rPr>
                        <a:t>Soporte correo / WhatsApp</a:t>
                      </a:r>
                      <a:endParaRPr sz="1300" b="1">
                        <a:solidFill>
                          <a:srgbClr val="F5F6F8"/>
                        </a:solidFill>
                        <a:latin typeface="Segoe UI Semibold" panose="020B0702040204020203"/>
                      </a:endParaRPr>
                    </a:p>
                  </a:txBody>
                  <a:tcPr marL="109728" marR="109728" anchor="ctr">
                    <a:solidFill>
                      <a:srgbClr val="1C202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C2C8D0"/>
                          </a:solidFill>
                          <a:latin typeface="Segoe UI" panose="020B0502040204020203"/>
                        </a:rPr>
                        <a:t>✔</a:t>
                      </a:r>
                      <a:endParaRPr sz="1300" b="0">
                        <a:solidFill>
                          <a:srgbClr val="C2C8D0"/>
                        </a:solidFill>
                        <a:latin typeface="Segoe UI" panose="020B0502040204020203"/>
                      </a:endParaRPr>
                    </a:p>
                  </a:txBody>
                  <a:tcPr marL="109728" marR="109728" anchor="ctr">
                    <a:solidFill>
                      <a:srgbClr val="1C202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C2C8D0"/>
                          </a:solidFill>
                          <a:latin typeface="Segoe UI" panose="020B0502040204020203"/>
                        </a:rPr>
                        <a:t>Prioritario</a:t>
                      </a:r>
                      <a:endParaRPr sz="1300" b="0">
                        <a:solidFill>
                          <a:srgbClr val="C2C8D0"/>
                        </a:solidFill>
                        <a:latin typeface="Segoe UI" panose="020B0502040204020203"/>
                      </a:endParaRPr>
                    </a:p>
                  </a:txBody>
                  <a:tcPr marL="109728" marR="109728" anchor="ctr">
                    <a:solidFill>
                      <a:srgbClr val="1C2027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5F6F8"/>
                          </a:solidFill>
                          <a:latin typeface="Segoe UI Semibold" panose="020B0702040204020203"/>
                        </a:rPr>
                        <a:t>Precio mensual</a:t>
                      </a:r>
                      <a:endParaRPr sz="1300" b="1">
                        <a:solidFill>
                          <a:srgbClr val="F5F6F8"/>
                        </a:solidFill>
                        <a:latin typeface="Segoe UI Semibold" panose="020B0702040204020203"/>
                      </a:endParaRPr>
                    </a:p>
                  </a:txBody>
                  <a:tcPr marL="109728" marR="109728" anchor="ctr">
                    <a:solidFill>
                      <a:srgbClr val="B3262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5F6F8"/>
                          </a:solidFill>
                          <a:latin typeface="Segoe UI Semibold" panose="020B0702040204020203"/>
                        </a:rPr>
                        <a:t>$599 / mes</a:t>
                      </a:r>
                      <a:endParaRPr sz="1300" b="1">
                        <a:solidFill>
                          <a:srgbClr val="F5F6F8"/>
                        </a:solidFill>
                        <a:latin typeface="Segoe UI Semibold" panose="020B0702040204020203"/>
                      </a:endParaRPr>
                    </a:p>
                  </a:txBody>
                  <a:tcPr marL="109728" marR="109728" anchor="ctr">
                    <a:solidFill>
                      <a:srgbClr val="B3262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5F6F8"/>
                          </a:solidFill>
                          <a:latin typeface="Segoe UI Semibold" panose="020B0702040204020203"/>
                        </a:rPr>
                        <a:t>$1,199 / mes</a:t>
                      </a:r>
                      <a:endParaRPr sz="1300" b="1">
                        <a:solidFill>
                          <a:srgbClr val="F5F6F8"/>
                        </a:solidFill>
                        <a:latin typeface="Segoe UI Semibold" panose="020B0702040204020203"/>
                      </a:endParaRPr>
                    </a:p>
                  </a:txBody>
                  <a:tcPr marL="109728" marR="109728" anchor="ctr">
                    <a:solidFill>
                      <a:srgbClr val="B32623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2651760" y="5623560"/>
            <a:ext cx="6858000" cy="502920"/>
          </a:xfrm>
          <a:prstGeom prst="round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>
                <a:solidFill>
                  <a:srgbClr val="F5F6F8"/>
                </a:solidFill>
                <a:latin typeface="Segoe UI Semibold" panose="020B0702040204020203"/>
              </a:rPr>
              <a:t>Precio de lanzamiento — exclusivo para los primeros 10 gimnasios</a:t>
            </a:r>
            <a:endParaRPr sz="1500" b="1">
              <a:solidFill>
                <a:srgbClr val="F5F6F8"/>
              </a:solidFill>
              <a:latin typeface="Segoe UI Semibold" panose="020B0702040204020203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22960" y="635508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8A929E"/>
                </a:solidFill>
                <a:latin typeface="Segoe UI" panose="020B0502040204020203"/>
              </a:rPr>
              <a:t>Ambos planes incluyen actualizaciones sin costo.</a:t>
            </a:r>
            <a:endParaRPr sz="1200" b="0">
              <a:solidFill>
                <a:srgbClr val="8A929E"/>
              </a:solidFill>
              <a:latin typeface="Segoe UI" panose="020B0502040204020203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4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66928"/>
            <a:ext cx="822960" cy="63500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713232"/>
            <a:ext cx="109728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F5F6F8"/>
                </a:solidFill>
                <a:latin typeface="Segoe UI Semibold" panose="020B0702040204020203"/>
              </a:rPr>
              <a:t>Plan Arranque — $599/mes</a:t>
            </a:r>
            <a:endParaRPr sz="3200" b="1">
              <a:solidFill>
                <a:srgbClr val="F5F6F8"/>
              </a:solidFill>
              <a:latin typeface="Segoe UI Semibold" panose="020B0702040204020203"/>
            </a:endParaRPr>
          </a:p>
          <a:p>
            <a:pPr algn="l">
              <a:spcAft>
                <a:spcPts val="0"/>
              </a:spcAft>
            </a:pPr>
            <a:r>
              <a:rPr sz="1500" b="0">
                <a:solidFill>
                  <a:srgbClr val="8A929E"/>
                </a:solidFill>
                <a:latin typeface="Segoe UI" panose="020B0502040204020203"/>
              </a:rPr>
              <a:t>Ideal para un gimnasio con una sede</a:t>
            </a:r>
            <a:endParaRPr sz="1500" b="0">
              <a:solidFill>
                <a:srgbClr val="8A929E"/>
              </a:solidFill>
              <a:latin typeface="Segoe UI" panose="020B0502040204020203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22960" y="1920240"/>
            <a:ext cx="1051560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300"/>
              </a:spcAft>
            </a:pPr>
            <a:r>
              <a:rPr sz="1700" b="0">
                <a:solidFill>
                  <a:srgbClr val="C2C8D0"/>
                </a:solidFill>
                <a:latin typeface="Segoe UI" panose="020B0502040204020203"/>
              </a:rPr>
              <a:t>▪  Hasta 200 socios activos, 1 sucursal.</a:t>
            </a:r>
            <a:endParaRPr sz="1700" b="0">
              <a:solidFill>
                <a:srgbClr val="C2C8D0"/>
              </a:solidFill>
              <a:latin typeface="Segoe UI" panose="020B0502040204020203"/>
            </a:endParaRPr>
          </a:p>
          <a:p>
            <a:pPr algn="l">
              <a:spcAft>
                <a:spcPts val="1300"/>
              </a:spcAft>
            </a:pPr>
            <a:r>
              <a:rPr sz="1700" b="0">
                <a:solidFill>
                  <a:srgbClr val="C2C8D0"/>
                </a:solidFill>
                <a:latin typeface="Segoe UI" panose="020B0502040204020203"/>
              </a:rPr>
              <a:t>▪  Hasta 20 empleados: recepcionistas, administradores y coaches.</a:t>
            </a:r>
            <a:endParaRPr sz="1700" b="0">
              <a:solidFill>
                <a:srgbClr val="C2C8D0"/>
              </a:solidFill>
              <a:latin typeface="Segoe UI" panose="020B0502040204020203"/>
            </a:endParaRPr>
          </a:p>
          <a:p>
            <a:pPr algn="l">
              <a:spcAft>
                <a:spcPts val="1300"/>
              </a:spcAft>
            </a:pPr>
            <a:r>
              <a:rPr sz="1700" b="0">
                <a:solidFill>
                  <a:srgbClr val="C2C8D0"/>
                </a:solidFill>
                <a:latin typeface="Segoe UI" panose="020B0502040204020203"/>
              </a:rPr>
              <a:t>▪  Planes de cobro: mensualidad, visita suelta, promoción por meses, promoción por pareja.</a:t>
            </a:r>
            <a:endParaRPr sz="1700" b="0">
              <a:solidFill>
                <a:srgbClr val="C2C8D0"/>
              </a:solidFill>
              <a:latin typeface="Segoe UI" panose="020B0502040204020203"/>
            </a:endParaRPr>
          </a:p>
          <a:p>
            <a:pPr algn="l">
              <a:spcAft>
                <a:spcPts val="1300"/>
              </a:spcAft>
            </a:pPr>
            <a:r>
              <a:rPr sz="1700" b="0">
                <a:solidFill>
                  <a:srgbClr val="C2C8D0"/>
                </a:solidFill>
                <a:latin typeface="Segoe UI" panose="020B0502040204020203"/>
              </a:rPr>
              <a:t>▪  Registro de pagos y cobranza.</a:t>
            </a:r>
            <a:endParaRPr sz="1700" b="0">
              <a:solidFill>
                <a:srgbClr val="C2C8D0"/>
              </a:solidFill>
              <a:latin typeface="Segoe UI" panose="020B0502040204020203"/>
            </a:endParaRPr>
          </a:p>
          <a:p>
            <a:pPr algn="l">
              <a:spcAft>
                <a:spcPts val="1300"/>
              </a:spcAft>
            </a:pPr>
            <a:r>
              <a:rPr sz="1700" b="0">
                <a:solidFill>
                  <a:srgbClr val="C2C8D0"/>
                </a:solidFill>
                <a:latin typeface="Segoe UI" panose="020B0502040204020203"/>
              </a:rPr>
              <a:t>▪  Dashboard, reportes esenciales y estadísticas.</a:t>
            </a:r>
            <a:endParaRPr sz="1700" b="0">
              <a:solidFill>
                <a:srgbClr val="C2C8D0"/>
              </a:solidFill>
              <a:latin typeface="Segoe UI" panose="020B0502040204020203"/>
            </a:endParaRPr>
          </a:p>
          <a:p>
            <a:pPr algn="l">
              <a:spcAft>
                <a:spcPts val="1300"/>
              </a:spcAft>
            </a:pPr>
            <a:r>
              <a:rPr sz="1700" b="0">
                <a:solidFill>
                  <a:srgbClr val="C2C8D0"/>
                </a:solidFill>
                <a:latin typeface="Segoe UI" panose="020B0502040204020203"/>
              </a:rPr>
              <a:t>▪  Control de acceso por QR.</a:t>
            </a:r>
            <a:endParaRPr sz="1700" b="0">
              <a:solidFill>
                <a:srgbClr val="C2C8D0"/>
              </a:solidFill>
              <a:latin typeface="Segoe UI" panose="020B0502040204020203"/>
            </a:endParaRPr>
          </a:p>
          <a:p>
            <a:pPr algn="l">
              <a:spcAft>
                <a:spcPts val="1300"/>
              </a:spcAft>
            </a:pPr>
            <a:r>
              <a:rPr sz="1700" b="0">
                <a:solidFill>
                  <a:srgbClr val="C2C8D0"/>
                </a:solidFill>
                <a:latin typeface="Segoe UI" panose="020B0502040204020203"/>
              </a:rPr>
              <a:t>▪  Soporte por correo / WhatsApp.</a:t>
            </a:r>
            <a:endParaRPr sz="1700" b="0">
              <a:solidFill>
                <a:srgbClr val="C2C8D0"/>
              </a:solidFill>
              <a:latin typeface="Segoe UI" panose="020B0502040204020203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4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66928"/>
            <a:ext cx="822960" cy="63500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713232"/>
            <a:ext cx="109728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F5F6F8"/>
                </a:solidFill>
                <a:latin typeface="Segoe UI Semibold" panose="020B0702040204020203"/>
              </a:rPr>
              <a:t>Plan Crecimiento — $1,199/mes</a:t>
            </a:r>
            <a:endParaRPr sz="3200" b="1">
              <a:solidFill>
                <a:srgbClr val="F5F6F8"/>
              </a:solidFill>
              <a:latin typeface="Segoe UI Semibold" panose="020B0702040204020203"/>
            </a:endParaRPr>
          </a:p>
          <a:p>
            <a:pPr algn="l">
              <a:spcAft>
                <a:spcPts val="0"/>
              </a:spcAft>
            </a:pPr>
            <a:r>
              <a:rPr sz="1500" b="0">
                <a:solidFill>
                  <a:srgbClr val="8A929E"/>
                </a:solidFill>
                <a:latin typeface="Segoe UI" panose="020B0502040204020203"/>
              </a:rPr>
              <a:t>Para gimnasios en expansión</a:t>
            </a:r>
            <a:endParaRPr sz="1500" b="0">
              <a:solidFill>
                <a:srgbClr val="8A929E"/>
              </a:solidFill>
              <a:latin typeface="Segoe UI" panose="020B0502040204020203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22960" y="1920240"/>
            <a:ext cx="1051560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500"/>
              </a:spcAft>
            </a:pPr>
            <a:r>
              <a:rPr sz="1800" b="0">
                <a:solidFill>
                  <a:srgbClr val="C2C8D0"/>
                </a:solidFill>
                <a:latin typeface="Segoe UI" panose="020B0502040204020203"/>
              </a:rPr>
              <a:t>▪  Todo lo del Plan Arranque, más:</a:t>
            </a:r>
            <a:endParaRPr sz="1800" b="0">
              <a:solidFill>
                <a:srgbClr val="C2C8D0"/>
              </a:solidFill>
              <a:latin typeface="Segoe UI" panose="020B0502040204020203"/>
            </a:endParaRPr>
          </a:p>
          <a:p>
            <a:pPr algn="l">
              <a:spcAft>
                <a:spcPts val="1500"/>
              </a:spcAft>
            </a:pPr>
            <a:r>
              <a:rPr sz="1800" b="0">
                <a:solidFill>
                  <a:srgbClr val="C2C8D0"/>
                </a:solidFill>
                <a:latin typeface="Segoe UI" panose="020B0502040204020203"/>
              </a:rPr>
              <a:t>▪  Hasta 600 socios en total.</a:t>
            </a:r>
            <a:endParaRPr sz="1800" b="0">
              <a:solidFill>
                <a:srgbClr val="C2C8D0"/>
              </a:solidFill>
              <a:latin typeface="Segoe UI" panose="020B0502040204020203"/>
            </a:endParaRPr>
          </a:p>
          <a:p>
            <a:pPr algn="l">
              <a:spcAft>
                <a:spcPts val="1500"/>
              </a:spcAft>
            </a:pPr>
            <a:r>
              <a:rPr sz="1800" b="0">
                <a:solidFill>
                  <a:srgbClr val="C2C8D0"/>
                </a:solidFill>
                <a:latin typeface="Segoe UI" panose="020B0502040204020203"/>
              </a:rPr>
              <a:t>▪  Hasta 3 sucursales.</a:t>
            </a:r>
            <a:endParaRPr sz="1800" b="0">
              <a:solidFill>
                <a:srgbClr val="C2C8D0"/>
              </a:solidFill>
              <a:latin typeface="Segoe UI" panose="020B0502040204020203"/>
            </a:endParaRPr>
          </a:p>
          <a:p>
            <a:pPr algn="l">
              <a:spcAft>
                <a:spcPts val="1500"/>
              </a:spcAft>
            </a:pPr>
            <a:r>
              <a:rPr sz="1800" b="0">
                <a:solidFill>
                  <a:srgbClr val="C2C8D0"/>
                </a:solidFill>
                <a:latin typeface="Segoe UI" panose="020B0502040204020203"/>
              </a:rPr>
              <a:t>▪  Hasta 20 empleados por sucursal.</a:t>
            </a:r>
            <a:endParaRPr sz="1800" b="0">
              <a:solidFill>
                <a:srgbClr val="C2C8D0"/>
              </a:solidFill>
              <a:latin typeface="Segoe UI" panose="020B0502040204020203"/>
            </a:endParaRPr>
          </a:p>
          <a:p>
            <a:pPr algn="l">
              <a:spcAft>
                <a:spcPts val="1500"/>
              </a:spcAft>
            </a:pPr>
            <a:r>
              <a:rPr sz="1800" b="0">
                <a:solidFill>
                  <a:srgbClr val="C2C8D0"/>
                </a:solidFill>
                <a:latin typeface="Segoe UI" panose="020B0502040204020203"/>
              </a:rPr>
              <a:t>▪  Reportes y dashboard separados por sucursal.</a:t>
            </a:r>
            <a:endParaRPr sz="1800" b="0">
              <a:solidFill>
                <a:srgbClr val="C2C8D0"/>
              </a:solidFill>
              <a:latin typeface="Segoe UI" panose="020B0502040204020203"/>
            </a:endParaRPr>
          </a:p>
          <a:p>
            <a:pPr algn="l">
              <a:spcAft>
                <a:spcPts val="1500"/>
              </a:spcAft>
            </a:pPr>
            <a:r>
              <a:rPr sz="1800" b="0">
                <a:solidFill>
                  <a:srgbClr val="C2C8D0"/>
                </a:solidFill>
                <a:latin typeface="Segoe UI" panose="020B0502040204020203"/>
              </a:rPr>
              <a:t>▪  Soporte prioritario.</a:t>
            </a:r>
            <a:endParaRPr sz="1800" b="0">
              <a:solidFill>
                <a:srgbClr val="C2C8D0"/>
              </a:solidFill>
              <a:latin typeface="Segoe UI" panose="020B0502040204020203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4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66928"/>
            <a:ext cx="822960" cy="63500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713232"/>
            <a:ext cx="109728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F5F6F8"/>
                </a:solidFill>
                <a:latin typeface="Segoe UI Semibold" panose="020B0702040204020203"/>
              </a:rPr>
              <a:t>¿Necesitas más? Crece a tu ritmo</a:t>
            </a:r>
            <a:endParaRPr sz="3200" b="1">
              <a:solidFill>
                <a:srgbClr val="F5F6F8"/>
              </a:solidFill>
              <a:latin typeface="Segoe UI Semibold" panose="020B0702040204020203"/>
            </a:endParaRPr>
          </a:p>
          <a:p>
            <a:pPr algn="l">
              <a:spcAft>
                <a:spcPts val="0"/>
              </a:spcAft>
            </a:pPr>
            <a:r>
              <a:rPr sz="1500" b="0">
                <a:solidFill>
                  <a:srgbClr val="8A929E"/>
                </a:solidFill>
                <a:latin typeface="Segoe UI" panose="020B0502040204020203"/>
              </a:rPr>
              <a:t>Expansiones disponibles en cualquier plan</a:t>
            </a:r>
            <a:endParaRPr sz="1500" b="0">
              <a:solidFill>
                <a:srgbClr val="8A929E"/>
              </a:solidFill>
              <a:latin typeface="Segoe UI" panose="020B0502040204020203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280160" y="2194560"/>
          <a:ext cx="9601200" cy="17830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400800"/>
                <a:gridCol w="3200400"/>
              </a:tblGrid>
              <a:tr h="59436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F5F6F8"/>
                          </a:solidFill>
                          <a:latin typeface="Segoe UI Semibold" panose="020B0702040204020203"/>
                        </a:rPr>
                        <a:t>Expansión</a:t>
                      </a:r>
                      <a:endParaRPr sz="1600" b="1">
                        <a:solidFill>
                          <a:srgbClr val="F5F6F8"/>
                        </a:solidFill>
                        <a:latin typeface="Segoe UI Semibold" panose="020B0702040204020203"/>
                      </a:endParaRPr>
                    </a:p>
                  </a:txBody>
                  <a:tcPr marL="109728" marR="109728" anchor="ctr">
                    <a:solidFill>
                      <a:srgbClr val="E539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5F6F8"/>
                          </a:solidFill>
                          <a:latin typeface="Segoe UI Semibold" panose="020B0702040204020203"/>
                        </a:rPr>
                        <a:t>Precio (MXN)</a:t>
                      </a:r>
                      <a:endParaRPr sz="1600" b="1">
                        <a:solidFill>
                          <a:srgbClr val="F5F6F8"/>
                        </a:solidFill>
                        <a:latin typeface="Segoe UI Semibold" panose="020B0702040204020203"/>
                      </a:endParaRPr>
                    </a:p>
                  </a:txBody>
                  <a:tcPr marL="109728" marR="109728" anchor="ctr">
                    <a:solidFill>
                      <a:srgbClr val="E53935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F5F6F8"/>
                          </a:solidFill>
                          <a:latin typeface="Segoe UI Semibold" panose="020B0702040204020203"/>
                        </a:rPr>
                        <a:t>Paquete de 50 socios extra</a:t>
                      </a:r>
                      <a:endParaRPr sz="1600" b="1">
                        <a:solidFill>
                          <a:srgbClr val="F5F6F8"/>
                        </a:solidFill>
                        <a:latin typeface="Segoe UI Semibold" panose="020B0702040204020203"/>
                      </a:endParaRPr>
                    </a:p>
                  </a:txBody>
                  <a:tcPr marL="109728" marR="109728" anchor="ctr">
                    <a:solidFill>
                      <a:srgbClr val="16191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C2C8D0"/>
                          </a:solidFill>
                          <a:latin typeface="Segoe UI" panose="020B0502040204020203"/>
                        </a:rPr>
                        <a:t>+$100 / mes</a:t>
                      </a:r>
                      <a:endParaRPr sz="1600" b="0">
                        <a:solidFill>
                          <a:srgbClr val="C2C8D0"/>
                        </a:solidFill>
                        <a:latin typeface="Segoe UI" panose="020B0502040204020203"/>
                      </a:endParaRPr>
                    </a:p>
                  </a:txBody>
                  <a:tcPr marL="109728" marR="109728" anchor="ctr">
                    <a:solidFill>
                      <a:srgbClr val="16191F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F5F6F8"/>
                          </a:solidFill>
                          <a:latin typeface="Segoe UI Semibold" panose="020B0702040204020203"/>
                        </a:rPr>
                        <a:t>Sucursal extra (incluye 200 socios adicionales)</a:t>
                      </a:r>
                      <a:endParaRPr sz="1600" b="1">
                        <a:solidFill>
                          <a:srgbClr val="F5F6F8"/>
                        </a:solidFill>
                        <a:latin typeface="Segoe UI Semibold" panose="020B0702040204020203"/>
                      </a:endParaRPr>
                    </a:p>
                  </a:txBody>
                  <a:tcPr marL="109728" marR="109728" anchor="ctr">
                    <a:solidFill>
                      <a:srgbClr val="1C202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C2C8D0"/>
                          </a:solidFill>
                          <a:latin typeface="Segoe UI" panose="020B0502040204020203"/>
                        </a:rPr>
                        <a:t>+$300 / mes</a:t>
                      </a:r>
                      <a:endParaRPr sz="1600" b="0">
                        <a:solidFill>
                          <a:srgbClr val="C2C8D0"/>
                        </a:solidFill>
                        <a:latin typeface="Segoe UI" panose="020B0502040204020203"/>
                      </a:endParaRPr>
                    </a:p>
                  </a:txBody>
                  <a:tcPr marL="109728" marR="109728" anchor="ctr">
                    <a:solidFill>
                      <a:srgbClr val="1C2027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22960" y="457200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8A929E"/>
                </a:solidFill>
                <a:latin typeface="Segoe UI" panose="020B0502040204020203"/>
              </a:rPr>
              <a:t>Sin cambiar de plan y sin plazos forzosos: activas o desactivas cuando lo necesites.</a:t>
            </a:r>
            <a:endParaRPr sz="1200" b="0">
              <a:solidFill>
                <a:srgbClr val="8A929E"/>
              </a:solidFill>
              <a:latin typeface="Segoe UI" panose="020B0502040204020203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4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66928"/>
            <a:ext cx="822960" cy="63500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713232"/>
            <a:ext cx="109728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F5F6F8"/>
                </a:solidFill>
                <a:latin typeface="Segoe UI Semibold" panose="020B0702040204020203"/>
              </a:rPr>
              <a:t>Equipo necesario por sucursal</a:t>
            </a:r>
            <a:endParaRPr sz="3200" b="1">
              <a:solidFill>
                <a:srgbClr val="F5F6F8"/>
              </a:solidFill>
              <a:latin typeface="Segoe UI Semibold" panose="020B0702040204020203"/>
            </a:endParaRPr>
          </a:p>
          <a:p>
            <a:pPr algn="l">
              <a:spcAft>
                <a:spcPts val="0"/>
              </a:spcAft>
            </a:pPr>
            <a:r>
              <a:rPr sz="1500" b="0">
                <a:solidFill>
                  <a:srgbClr val="8A929E"/>
                </a:solidFill>
                <a:latin typeface="Segoe UI" panose="020B0502040204020203"/>
              </a:rPr>
              <a:t>Inversión única — el equipo es tuyo</a:t>
            </a:r>
            <a:endParaRPr sz="1500" b="0">
              <a:solidFill>
                <a:srgbClr val="8A929E"/>
              </a:solidFill>
              <a:latin typeface="Segoe UI" panose="020B0502040204020203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280160" y="1828800"/>
          <a:ext cx="9601200" cy="285292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943600"/>
                <a:gridCol w="3657600"/>
              </a:tblGrid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F5F6F8"/>
                          </a:solidFill>
                          <a:latin typeface="Segoe UI Semibold" panose="020B0702040204020203"/>
                        </a:rPr>
                        <a:t>Equipo</a:t>
                      </a:r>
                      <a:endParaRPr sz="1500" b="1">
                        <a:solidFill>
                          <a:srgbClr val="F5F6F8"/>
                        </a:solidFill>
                        <a:latin typeface="Segoe UI Semibold" panose="020B0702040204020203"/>
                      </a:endParaRPr>
                    </a:p>
                  </a:txBody>
                  <a:tcPr marL="109728" marR="109728" anchor="ctr">
                    <a:solidFill>
                      <a:srgbClr val="E539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5F6F8"/>
                          </a:solidFill>
                          <a:latin typeface="Segoe UI Semibold" panose="020B0702040204020203"/>
                        </a:rPr>
                        <a:t>Precio aprox. (MXN)</a:t>
                      </a:r>
                      <a:endParaRPr sz="1500" b="1">
                        <a:solidFill>
                          <a:srgbClr val="F5F6F8"/>
                        </a:solidFill>
                        <a:latin typeface="Segoe UI Semibold" panose="020B0702040204020203"/>
                      </a:endParaRPr>
                    </a:p>
                  </a:txBody>
                  <a:tcPr marL="109728" marR="109728" anchor="ctr">
                    <a:solidFill>
                      <a:srgbClr val="E53935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F5F6F8"/>
                          </a:solidFill>
                          <a:latin typeface="Segoe UI Semibold" panose="020B0702040204020203"/>
                        </a:rPr>
                        <a:t>Mini PC o PC seminueva</a:t>
                      </a:r>
                      <a:endParaRPr sz="1500" b="1">
                        <a:solidFill>
                          <a:srgbClr val="F5F6F8"/>
                        </a:solidFill>
                        <a:latin typeface="Segoe UI Semibold" panose="020B0702040204020203"/>
                      </a:endParaRPr>
                    </a:p>
                  </a:txBody>
                  <a:tcPr marL="109728" marR="109728" anchor="ctr">
                    <a:solidFill>
                      <a:srgbClr val="16191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C2C8D0"/>
                          </a:solidFill>
                          <a:latin typeface="Segoe UI" panose="020B0502040204020203"/>
                        </a:rPr>
                        <a:t>$2,000 – $2,300</a:t>
                      </a:r>
                      <a:endParaRPr sz="1500" b="0">
                        <a:solidFill>
                          <a:srgbClr val="C2C8D0"/>
                        </a:solidFill>
                        <a:latin typeface="Segoe UI" panose="020B0502040204020203"/>
                      </a:endParaRPr>
                    </a:p>
                  </a:txBody>
                  <a:tcPr marL="109728" marR="109728" anchor="ctr">
                    <a:solidFill>
                      <a:srgbClr val="16191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F5F6F8"/>
                          </a:solidFill>
                          <a:latin typeface="Segoe UI Semibold" panose="020B0702040204020203"/>
                        </a:rPr>
                        <a:t>Teclado y mouse</a:t>
                      </a:r>
                      <a:endParaRPr sz="1500" b="1">
                        <a:solidFill>
                          <a:srgbClr val="F5F6F8"/>
                        </a:solidFill>
                        <a:latin typeface="Segoe UI Semibold" panose="020B0702040204020203"/>
                      </a:endParaRPr>
                    </a:p>
                  </a:txBody>
                  <a:tcPr marL="109728" marR="109728" anchor="ctr">
                    <a:solidFill>
                      <a:srgbClr val="1C202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C2C8D0"/>
                          </a:solidFill>
                          <a:latin typeface="Segoe UI" panose="020B0502040204020203"/>
                        </a:rPr>
                        <a:t>$424</a:t>
                      </a:r>
                      <a:endParaRPr sz="1500" b="0">
                        <a:solidFill>
                          <a:srgbClr val="C2C8D0"/>
                        </a:solidFill>
                        <a:latin typeface="Segoe UI" panose="020B0502040204020203"/>
                      </a:endParaRPr>
                    </a:p>
                  </a:txBody>
                  <a:tcPr marL="109728" marR="109728" anchor="ctr">
                    <a:solidFill>
                      <a:srgbClr val="1C2027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F5F6F8"/>
                          </a:solidFill>
                          <a:latin typeface="Segoe UI Semibold" panose="020B0702040204020203"/>
                        </a:rPr>
                        <a:t>Monitor</a:t>
                      </a:r>
                      <a:endParaRPr sz="1500" b="1">
                        <a:solidFill>
                          <a:srgbClr val="F5F6F8"/>
                        </a:solidFill>
                        <a:latin typeface="Segoe UI Semibold" panose="020B0702040204020203"/>
                      </a:endParaRPr>
                    </a:p>
                  </a:txBody>
                  <a:tcPr marL="109728" marR="109728" anchor="ctr">
                    <a:solidFill>
                      <a:srgbClr val="16191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C2C8D0"/>
                          </a:solidFill>
                          <a:latin typeface="Segoe UI" panose="020B0502040204020203"/>
                        </a:rPr>
                        <a:t>$900 – $1,600</a:t>
                      </a:r>
                      <a:endParaRPr sz="1500" b="0">
                        <a:solidFill>
                          <a:srgbClr val="C2C8D0"/>
                        </a:solidFill>
                        <a:latin typeface="Segoe UI" panose="020B0502040204020203"/>
                      </a:endParaRPr>
                    </a:p>
                  </a:txBody>
                  <a:tcPr marL="109728" marR="109728" anchor="ctr">
                    <a:solidFill>
                      <a:srgbClr val="16191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F5F6F8"/>
                          </a:solidFill>
                          <a:latin typeface="Segoe UI Semibold" panose="020B0702040204020203"/>
                        </a:rPr>
                        <a:t>Lector de código QR USB</a:t>
                      </a:r>
                      <a:endParaRPr sz="1500" b="1">
                        <a:solidFill>
                          <a:srgbClr val="F5F6F8"/>
                        </a:solidFill>
                        <a:latin typeface="Segoe UI Semibold" panose="020B0702040204020203"/>
                      </a:endParaRPr>
                    </a:p>
                  </a:txBody>
                  <a:tcPr marL="109728" marR="109728" anchor="ctr">
                    <a:solidFill>
                      <a:srgbClr val="1C202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C2C8D0"/>
                          </a:solidFill>
                          <a:latin typeface="Segoe UI" panose="020B0502040204020203"/>
                        </a:rPr>
                        <a:t>$399 – $800</a:t>
                      </a:r>
                      <a:endParaRPr sz="1500" b="0">
                        <a:solidFill>
                          <a:srgbClr val="C2C8D0"/>
                        </a:solidFill>
                        <a:latin typeface="Segoe UI" panose="020B0502040204020203"/>
                      </a:endParaRPr>
                    </a:p>
                  </a:txBody>
                  <a:tcPr marL="109728" marR="109728" anchor="ctr">
                    <a:solidFill>
                      <a:srgbClr val="1C2027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F5F6F8"/>
                          </a:solidFill>
                          <a:latin typeface="Segoe UI Semibold" panose="020B0702040204020203"/>
                        </a:rPr>
                        <a:t>TOTAL EQUIPO</a:t>
                      </a:r>
                      <a:endParaRPr sz="1500" b="1">
                        <a:solidFill>
                          <a:srgbClr val="F5F6F8"/>
                        </a:solidFill>
                        <a:latin typeface="Segoe UI Semibold" panose="020B0702040204020203"/>
                      </a:endParaRPr>
                    </a:p>
                  </a:txBody>
                  <a:tcPr marL="109728" marR="109728" anchor="ctr">
                    <a:solidFill>
                      <a:srgbClr val="B3262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5F6F8"/>
                          </a:solidFill>
                          <a:latin typeface="Segoe UI Semibold" panose="020B0702040204020203"/>
                        </a:rPr>
                        <a:t>$3,700 – $5,200</a:t>
                      </a:r>
                      <a:endParaRPr sz="1500" b="1">
                        <a:solidFill>
                          <a:srgbClr val="F5F6F8"/>
                        </a:solidFill>
                        <a:latin typeface="Segoe UI Semibold" panose="020B0702040204020203"/>
                      </a:endParaRPr>
                    </a:p>
                  </a:txBody>
                  <a:tcPr marL="109728" marR="109728" anchor="ctr">
                    <a:solidFill>
                      <a:srgbClr val="B32623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22960" y="566928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8A929E"/>
                </a:solidFill>
                <a:latin typeface="Segoe UI" panose="020B0502040204020203"/>
              </a:rPr>
              <a:t>Precios de referencia (Mercado Libre / Acteck / Facebook MP).  Si ya tienes computadora, solo necesitas el lector QR (~$500).</a:t>
            </a:r>
            <a:endParaRPr sz="1200" b="0">
              <a:solidFill>
                <a:srgbClr val="8A929E"/>
              </a:solidFill>
              <a:latin typeface="Segoe UI" panose="020B0502040204020203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4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66928"/>
            <a:ext cx="822960" cy="63500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713232"/>
            <a:ext cx="109728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F5F6F8"/>
                </a:solidFill>
                <a:latin typeface="Segoe UI Semibold" panose="020B0702040204020203"/>
              </a:rPr>
              <a:t>Inversión inicial</a:t>
            </a:r>
            <a:endParaRPr sz="3200" b="1">
              <a:solidFill>
                <a:srgbClr val="F5F6F8"/>
              </a:solidFill>
              <a:latin typeface="Segoe UI Semibold" panose="020B0702040204020203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280160" y="1920240"/>
          <a:ext cx="9601200" cy="21945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400800"/>
                <a:gridCol w="3200400"/>
              </a:tblGrid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F5F6F8"/>
                          </a:solidFill>
                          <a:latin typeface="Segoe UI Semibold" panose="020B0702040204020203"/>
                        </a:rPr>
                        <a:t>Concepto</a:t>
                      </a:r>
                      <a:endParaRPr sz="1600" b="1">
                        <a:solidFill>
                          <a:srgbClr val="F5F6F8"/>
                        </a:solidFill>
                        <a:latin typeface="Segoe UI Semibold" panose="020B0702040204020203"/>
                      </a:endParaRPr>
                    </a:p>
                  </a:txBody>
                  <a:tcPr marL="109728" marR="109728" anchor="ctr">
                    <a:solidFill>
                      <a:srgbClr val="E539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5F6F8"/>
                          </a:solidFill>
                          <a:latin typeface="Segoe UI Semibold" panose="020B0702040204020203"/>
                        </a:rPr>
                        <a:t>Precio (MXN)</a:t>
                      </a:r>
                      <a:endParaRPr sz="1600" b="1">
                        <a:solidFill>
                          <a:srgbClr val="F5F6F8"/>
                        </a:solidFill>
                        <a:latin typeface="Segoe UI Semibold" panose="020B0702040204020203"/>
                      </a:endParaRPr>
                    </a:p>
                  </a:txBody>
                  <a:tcPr marL="109728" marR="109728" anchor="ctr">
                    <a:solidFill>
                      <a:srgbClr val="E53935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F5F6F8"/>
                          </a:solidFill>
                          <a:latin typeface="Segoe UI Semibold" panose="020B0702040204020203"/>
                        </a:rPr>
                        <a:t>Instalación y configuración inicial (pago único)</a:t>
                      </a:r>
                      <a:endParaRPr sz="1600" b="1">
                        <a:solidFill>
                          <a:srgbClr val="F5F6F8"/>
                        </a:solidFill>
                        <a:latin typeface="Segoe UI Semibold" panose="020B0702040204020203"/>
                      </a:endParaRPr>
                    </a:p>
                  </a:txBody>
                  <a:tcPr marL="109728" marR="109728" anchor="ctr">
                    <a:solidFill>
                      <a:srgbClr val="16191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C2C8D0"/>
                          </a:solidFill>
                          <a:latin typeface="Segoe UI" panose="020B0502040204020203"/>
                        </a:rPr>
                        <a:t>$2,000</a:t>
                      </a:r>
                      <a:endParaRPr sz="1600" b="0">
                        <a:solidFill>
                          <a:srgbClr val="C2C8D0"/>
                        </a:solidFill>
                        <a:latin typeface="Segoe UI" panose="020B0502040204020203"/>
                      </a:endParaRPr>
                    </a:p>
                  </a:txBody>
                  <a:tcPr marL="109728" marR="109728" anchor="ctr">
                    <a:solidFill>
                      <a:srgbClr val="16191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F5F6F8"/>
                          </a:solidFill>
                          <a:latin typeface="Segoe UI Semibold" panose="020B0702040204020203"/>
                        </a:rPr>
                        <a:t>Capacitación de tu personal</a:t>
                      </a:r>
                      <a:endParaRPr sz="1600" b="1">
                        <a:solidFill>
                          <a:srgbClr val="F5F6F8"/>
                        </a:solidFill>
                        <a:latin typeface="Segoe UI Semibold" panose="020B0702040204020203"/>
                      </a:endParaRPr>
                    </a:p>
                  </a:txBody>
                  <a:tcPr marL="109728" marR="109728" anchor="ctr">
                    <a:solidFill>
                      <a:srgbClr val="1C202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C2C8D0"/>
                          </a:solidFill>
                          <a:latin typeface="Segoe UI" panose="020B0502040204020203"/>
                        </a:rPr>
                        <a:t>Incluida</a:t>
                      </a:r>
                      <a:endParaRPr sz="1600" b="0">
                        <a:solidFill>
                          <a:srgbClr val="C2C8D0"/>
                        </a:solidFill>
                        <a:latin typeface="Segoe UI" panose="020B0502040204020203"/>
                      </a:endParaRPr>
                    </a:p>
                  </a:txBody>
                  <a:tcPr marL="109728" marR="109728" anchor="ctr">
                    <a:solidFill>
                      <a:srgbClr val="1C2027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F5F6F8"/>
                          </a:solidFill>
                          <a:latin typeface="Segoe UI Semibold" panose="020B0702040204020203"/>
                        </a:rPr>
                        <a:t>Migración de tus socios actuales</a:t>
                      </a:r>
                      <a:endParaRPr sz="1600" b="1">
                        <a:solidFill>
                          <a:srgbClr val="F5F6F8"/>
                        </a:solidFill>
                        <a:latin typeface="Segoe UI Semibold" panose="020B0702040204020203"/>
                      </a:endParaRPr>
                    </a:p>
                  </a:txBody>
                  <a:tcPr marL="109728" marR="109728" anchor="ctr">
                    <a:solidFill>
                      <a:srgbClr val="16191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C2C8D0"/>
                          </a:solidFill>
                          <a:latin typeface="Segoe UI" panose="020B0502040204020203"/>
                        </a:rPr>
                        <a:t>Incluida</a:t>
                      </a:r>
                      <a:endParaRPr sz="1600" b="0">
                        <a:solidFill>
                          <a:srgbClr val="C2C8D0"/>
                        </a:solidFill>
                        <a:latin typeface="Segoe UI" panose="020B0502040204020203"/>
                      </a:endParaRPr>
                    </a:p>
                  </a:txBody>
                  <a:tcPr marL="109728" marR="109728" anchor="ctr">
                    <a:solidFill>
                      <a:srgbClr val="16191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280160" y="4754880"/>
            <a:ext cx="96012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E53935"/>
                </a:solidFill>
                <a:latin typeface="Segoe UI Semibold" panose="020B0702040204020203"/>
              </a:rPr>
              <a:t>GymAccess se paga solo reduciendo la morosidad.</a:t>
            </a:r>
            <a:endParaRPr sz="2000" b="1">
              <a:solidFill>
                <a:srgbClr val="E53935"/>
              </a:solidFill>
              <a:latin typeface="Segoe UI Semibold" panose="020B0702040204020203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4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66928"/>
            <a:ext cx="822960" cy="63500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713232"/>
            <a:ext cx="109728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F5F6F8"/>
                </a:solidFill>
                <a:latin typeface="Segoe UI Semibold" panose="020B0702040204020203"/>
              </a:rPr>
              <a:t>¿Qué necesita tu gimnasio?</a:t>
            </a:r>
            <a:endParaRPr sz="3200" b="1">
              <a:solidFill>
                <a:srgbClr val="F5F6F8"/>
              </a:solidFill>
              <a:latin typeface="Segoe UI Semibold" panose="020B0702040204020203"/>
            </a:endParaRPr>
          </a:p>
          <a:p>
            <a:pPr algn="l">
              <a:spcAft>
                <a:spcPts val="0"/>
              </a:spcAft>
            </a:pPr>
            <a:r>
              <a:rPr sz="1500" b="0">
                <a:solidFill>
                  <a:srgbClr val="8A929E"/>
                </a:solidFill>
                <a:latin typeface="Segoe UI" panose="020B0502040204020203"/>
              </a:rPr>
              <a:t>Requisitos mínimos — probablemente ya los tienes</a:t>
            </a:r>
            <a:endParaRPr sz="1500" b="0">
              <a:solidFill>
                <a:srgbClr val="8A929E"/>
              </a:solidFill>
              <a:latin typeface="Segoe UI" panose="020B0502040204020203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22960" y="1920240"/>
            <a:ext cx="1051560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800"/>
              </a:spcAft>
            </a:pPr>
            <a:r>
              <a:rPr sz="2000" b="0">
                <a:solidFill>
                  <a:srgbClr val="C2C8D0"/>
                </a:solidFill>
                <a:latin typeface="Segoe UI" panose="020B0502040204020203"/>
              </a:rPr>
              <a:t>▪  Internet estable (10 Mbps es suficiente).</a:t>
            </a:r>
            <a:endParaRPr sz="2000" b="0">
              <a:solidFill>
                <a:srgbClr val="C2C8D0"/>
              </a:solidFill>
              <a:latin typeface="Segoe UI" panose="020B0502040204020203"/>
            </a:endParaRPr>
          </a:p>
          <a:p>
            <a:pPr algn="l">
              <a:spcAft>
                <a:spcPts val="1800"/>
              </a:spcAft>
            </a:pPr>
            <a:r>
              <a:rPr sz="2000" b="0">
                <a:solidFill>
                  <a:srgbClr val="C2C8D0"/>
                </a:solidFill>
                <a:latin typeface="Segoe UI" panose="020B0502040204020203"/>
              </a:rPr>
              <a:t>▪  Un navegador web (Chrome, Edge…).</a:t>
            </a:r>
            <a:endParaRPr sz="2000" b="0">
              <a:solidFill>
                <a:srgbClr val="C2C8D0"/>
              </a:solidFill>
              <a:latin typeface="Segoe UI" panose="020B0502040204020203"/>
            </a:endParaRPr>
          </a:p>
          <a:p>
            <a:pPr algn="l">
              <a:spcAft>
                <a:spcPts val="1800"/>
              </a:spcAft>
            </a:pPr>
            <a:r>
              <a:rPr sz="2000" b="0">
                <a:solidFill>
                  <a:srgbClr val="C2C8D0"/>
                </a:solidFill>
                <a:latin typeface="Segoe UI" panose="020B0502040204020203"/>
              </a:rPr>
              <a:t>▪  ¡Eso es todo! Nosotros nos encargamos del servidor, respaldos y seguridad.</a:t>
            </a:r>
            <a:endParaRPr sz="2000" b="0">
              <a:solidFill>
                <a:srgbClr val="C2C8D0"/>
              </a:solidFill>
              <a:latin typeface="Segoe UI" panose="020B0502040204020203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4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66928"/>
            <a:ext cx="822960" cy="63500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713232"/>
            <a:ext cx="109728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F5F6F8"/>
                </a:solidFill>
                <a:latin typeface="Segoe UI Semibold" panose="020B0702040204020203"/>
              </a:rPr>
              <a:t>Crece cuando tú quieras</a:t>
            </a:r>
            <a:endParaRPr sz="3200" b="1">
              <a:solidFill>
                <a:srgbClr val="F5F6F8"/>
              </a:solidFill>
              <a:latin typeface="Segoe UI Semibold" panose="020B0702040204020203"/>
            </a:endParaRPr>
          </a:p>
          <a:p>
            <a:pPr algn="l">
              <a:spcAft>
                <a:spcPts val="0"/>
              </a:spcAft>
            </a:pPr>
            <a:r>
              <a:rPr sz="1500" b="0">
                <a:solidFill>
                  <a:srgbClr val="8A929E"/>
                </a:solidFill>
                <a:latin typeface="Segoe UI" panose="020B0502040204020203"/>
              </a:rPr>
              <a:t>El sistema crece contigo</a:t>
            </a:r>
            <a:endParaRPr sz="1500" b="0">
              <a:solidFill>
                <a:srgbClr val="8A929E"/>
              </a:solidFill>
              <a:latin typeface="Segoe UI" panose="020B0502040204020203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22960" y="1920240"/>
            <a:ext cx="10515600" cy="237363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600"/>
              </a:spcAft>
            </a:pPr>
            <a:r>
              <a:rPr sz="1900" b="0">
                <a:solidFill>
                  <a:srgbClr val="C2C8D0"/>
                </a:solidFill>
                <a:latin typeface="Segoe UI" panose="020B0502040204020203"/>
              </a:rPr>
              <a:t>▪  Acceso por huella digital (lector desde ~$1,</a:t>
            </a:r>
            <a:r>
              <a:rPr lang="es-MX" sz="1900" b="0">
                <a:solidFill>
                  <a:srgbClr val="C2C8D0"/>
                </a:solidFill>
                <a:latin typeface="Segoe UI" panose="020B0502040204020203"/>
              </a:rPr>
              <a:t>4</a:t>
            </a:r>
            <a:r>
              <a:rPr sz="1900" b="0">
                <a:solidFill>
                  <a:srgbClr val="C2C8D0"/>
                </a:solidFill>
                <a:latin typeface="Segoe UI" panose="020B0502040204020203"/>
              </a:rPr>
              <a:t>00).</a:t>
            </a:r>
            <a:endParaRPr sz="1900" b="0">
              <a:solidFill>
                <a:srgbClr val="C2C8D0"/>
              </a:solidFill>
              <a:latin typeface="Segoe UI" panose="020B0502040204020203"/>
            </a:endParaRPr>
          </a:p>
          <a:p>
            <a:pPr algn="l">
              <a:spcAft>
                <a:spcPts val="1600"/>
              </a:spcAft>
            </a:pPr>
            <a:r>
              <a:rPr sz="1900" b="0">
                <a:solidFill>
                  <a:srgbClr val="C2C8D0"/>
                </a:solidFill>
                <a:latin typeface="Segoe UI" panose="020B0502040204020203"/>
              </a:rPr>
              <a:t>▪  Acceso RFID / tarjetas de proximidad.</a:t>
            </a:r>
            <a:endParaRPr sz="1900" b="0">
              <a:solidFill>
                <a:srgbClr val="C2C8D0"/>
              </a:solidFill>
              <a:latin typeface="Segoe UI" panose="020B0502040204020203"/>
            </a:endParaRPr>
          </a:p>
          <a:p>
            <a:pPr algn="l">
              <a:spcAft>
                <a:spcPts val="1600"/>
              </a:spcAft>
            </a:pPr>
            <a:r>
              <a:rPr sz="1900" b="0">
                <a:solidFill>
                  <a:srgbClr val="C2C8D0"/>
                </a:solidFill>
                <a:latin typeface="Segoe UI" panose="020B0502040204020203"/>
              </a:rPr>
              <a:t>▪  Gestión de clases, coaches y cupos.</a:t>
            </a:r>
            <a:endParaRPr sz="1900" b="0">
              <a:solidFill>
                <a:srgbClr val="C2C8D0"/>
              </a:solidFill>
              <a:latin typeface="Segoe UI" panose="020B0502040204020203"/>
            </a:endParaRPr>
          </a:p>
          <a:p>
            <a:pPr algn="l">
              <a:spcAft>
                <a:spcPts val="1600"/>
              </a:spcAft>
            </a:pPr>
            <a:r>
              <a:rPr sz="1900" b="0">
                <a:solidFill>
                  <a:srgbClr val="C2C8D0"/>
                </a:solidFill>
                <a:latin typeface="Segoe UI" panose="020B0502040204020203"/>
              </a:rPr>
              <a:t>▪  Punto de venta para productos (agua, suplementos, artículos).</a:t>
            </a:r>
            <a:endParaRPr sz="1900" b="0">
              <a:solidFill>
                <a:srgbClr val="C2C8D0"/>
              </a:solidFill>
              <a:latin typeface="Segoe UI" panose="020B0502040204020203"/>
            </a:endParaRPr>
          </a:p>
          <a:p>
            <a:pPr algn="l">
              <a:spcAft>
                <a:spcPts val="1600"/>
              </a:spcAft>
            </a:pPr>
            <a:r>
              <a:rPr sz="1900" b="0">
                <a:solidFill>
                  <a:srgbClr val="C2C8D0"/>
                </a:solidFill>
                <a:latin typeface="Segoe UI" panose="020B0502040204020203"/>
              </a:rPr>
              <a:t>▪  Control de gastos y reportes financieros.</a:t>
            </a:r>
            <a:endParaRPr sz="1900" b="0">
              <a:solidFill>
                <a:srgbClr val="C2C8D0"/>
              </a:solidFill>
              <a:latin typeface="Segoe UI" panose="020B0502040204020203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4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66928"/>
            <a:ext cx="822960" cy="63500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713232"/>
            <a:ext cx="109728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F5F6F8"/>
                </a:solidFill>
                <a:latin typeface="Segoe UI Semibold" panose="020B0702040204020203"/>
              </a:rPr>
              <a:t>Empecemos esta semana</a:t>
            </a:r>
            <a:endParaRPr sz="3200" b="1">
              <a:solidFill>
                <a:srgbClr val="F5F6F8"/>
              </a:solidFill>
              <a:latin typeface="Segoe UI Semibold" panose="020B0702040204020203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22960" y="1920240"/>
            <a:ext cx="1051560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600"/>
              </a:spcAft>
            </a:pPr>
            <a:r>
              <a:rPr sz="2000" b="0">
                <a:solidFill>
                  <a:srgbClr val="C2C8D0"/>
                </a:solidFill>
                <a:latin typeface="Segoe UI" panose="020B0502040204020203"/>
              </a:rPr>
              <a:t>▪  1. Elegimos el plan y compramos el equipo.</a:t>
            </a:r>
            <a:endParaRPr sz="2000" b="0">
              <a:solidFill>
                <a:srgbClr val="C2C8D0"/>
              </a:solidFill>
              <a:latin typeface="Segoe UI" panose="020B0502040204020203"/>
            </a:endParaRPr>
          </a:p>
          <a:p>
            <a:pPr algn="l">
              <a:spcAft>
                <a:spcPts val="1600"/>
              </a:spcAft>
            </a:pPr>
            <a:r>
              <a:rPr sz="2000" b="0">
                <a:solidFill>
                  <a:srgbClr val="C2C8D0"/>
                </a:solidFill>
                <a:latin typeface="Segoe UI" panose="020B0502040204020203"/>
              </a:rPr>
              <a:t>▪  2. Instalamos y configuramos el sistema (1 día).</a:t>
            </a:r>
            <a:endParaRPr sz="2000" b="0">
              <a:solidFill>
                <a:srgbClr val="C2C8D0"/>
              </a:solidFill>
              <a:latin typeface="Segoe UI" panose="020B0502040204020203"/>
            </a:endParaRPr>
          </a:p>
          <a:p>
            <a:pPr algn="l">
              <a:spcAft>
                <a:spcPts val="1600"/>
              </a:spcAft>
            </a:pPr>
            <a:r>
              <a:rPr sz="2000" b="0">
                <a:solidFill>
                  <a:srgbClr val="C2C8D0"/>
                </a:solidFill>
                <a:latin typeface="Segoe UI" panose="020B0502040204020203"/>
              </a:rPr>
              <a:t>▪  3. Capacitamos a tu personal.</a:t>
            </a:r>
            <a:endParaRPr sz="2000" b="0">
              <a:solidFill>
                <a:srgbClr val="C2C8D0"/>
              </a:solidFill>
              <a:latin typeface="Segoe UI" panose="020B0502040204020203"/>
            </a:endParaRPr>
          </a:p>
          <a:p>
            <a:pPr algn="l">
              <a:spcAft>
                <a:spcPts val="1600"/>
              </a:spcAft>
            </a:pPr>
            <a:r>
              <a:rPr sz="2000" b="0">
                <a:solidFill>
                  <a:srgbClr val="C2C8D0"/>
                </a:solidFill>
                <a:latin typeface="Segoe UI" panose="020B0502040204020203"/>
              </a:rPr>
              <a:t>▪  4. Migramos tus socios actuales.</a:t>
            </a:r>
            <a:endParaRPr sz="2000" b="0">
              <a:solidFill>
                <a:srgbClr val="C2C8D0"/>
              </a:solidFill>
              <a:latin typeface="Segoe UI" panose="020B0502040204020203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22960" y="539496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F5F6F8"/>
                </a:solidFill>
                <a:latin typeface="Segoe UI Semibold" panose="020B0702040204020203"/>
              </a:rPr>
              <a:t>Contacto:  Adrian Valencia  ·  3322332046  ·  angel10000sv@gmail.com</a:t>
            </a:r>
            <a:endParaRPr sz="1700" b="1">
              <a:solidFill>
                <a:srgbClr val="F5F6F8"/>
              </a:solidFill>
              <a:latin typeface="Segoe UI Semibold" panose="020B0702040204020203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3578</Words>
  <Application>WPS Presentation</Application>
  <PresentationFormat>On-screen Show (4:3)</PresentationFormat>
  <Paragraphs>195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3" baseType="lpstr">
      <vt:lpstr>Arial</vt:lpstr>
      <vt:lpstr>SimSun</vt:lpstr>
      <vt:lpstr>Wingdings</vt:lpstr>
      <vt:lpstr>Arial</vt:lpstr>
      <vt:lpstr>Segoe UI Semibold</vt:lpstr>
      <vt:lpstr>Segoe UI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Ángel Adrián</cp:lastModifiedBy>
  <cp:revision>2</cp:revision>
  <dcterms:created xsi:type="dcterms:W3CDTF">2013-01-27T09:14:00Z</dcterms:created>
  <dcterms:modified xsi:type="dcterms:W3CDTF">2026-07-20T02:50:37Z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B2F29C9746CA4DC282F3831800098615_12</vt:lpwstr>
  </property>
  <property fmtid="{D5CDD505-2E9C-101B-9397-08002B2CF9AE}" pid="3" name="KSOProductBuildVer">
    <vt:lpwstr>2058-12.1.0.27458</vt:lpwstr>
  </property>
</Properties>
</file>