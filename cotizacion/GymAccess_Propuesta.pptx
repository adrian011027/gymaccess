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hyperlink" Target="https://www.mercadolibre.com.mx/jowvdy1d2dqr-omnidireccional-barcode-reader-usb-scanner-negro-usb/p/MLM64610931?pdp_filters=item_id:MLM2700677695#is_advertising=true&amp;searchVariation=MLM64610931&amp;backend_model=search-backend;unknown_supple_+v_domain&amp;be_origi" TargetMode="External"/><Relationship Id="rId5" Type="http://schemas.openxmlformats.org/officeDocument/2006/relationships/hyperlink" Target="https://www.mercadolibre.com.mx/lector-de-codigo-de-barras-omnidireccional-1d-2d-qr-con-usb-color-negro/p/MLM25676839#polycard_client=search-desktop&amp;be_origin=backend&amp;search_layout=grid&amp;position=5&amp;type=product&amp;tracking_id=e0666d88-e2ff-4d53-ba25-5494e43e04" TargetMode="External"/><Relationship Id="rId4" Type="http://schemas.openxmlformats.org/officeDocument/2006/relationships/hyperlink" Target="https://acteck.com/products/monitor?_pos=3&amp;_sid=44242aca9&amp;_ss=r" TargetMode="External"/><Relationship Id="rId3" Type="http://schemas.openxmlformats.org/officeDocument/2006/relationships/hyperlink" Target="https://acteck.com/products/teclado-inspire-ti215?_pos=10&amp;_sid=cb3d95d9d&amp;_ss=r" TargetMode="External"/><Relationship Id="rId2" Type="http://schemas.openxmlformats.org/officeDocument/2006/relationships/hyperlink" Target="https://www.mercadolibre.com.mx/mouse-inalambrico-acteck-mi240-1200dpi-2-botones-usb-bat-aa/up/MLMU3893551645?pdp_filters=shipping:fulfillment#intervention_type=full&amp;position=1&amp;search_layout=grid&amp;type=cart_intervention&amp;tracking_id=cf16111e-0fd0-4097-9202-4" TargetMode="External"/><Relationship Id="rId1" Type="http://schemas.openxmlformats.org/officeDocument/2006/relationships/hyperlink" Target="https://www.mercadolibre.com.mx/dell-optiplex-3040-intel-core-i5-500-gb-intel-core-i5-6400-8-gb-incluye-es-un-kit-de-fabrica/p/MLM2014119284?product_trigger_id=MLM2014119280&amp;pdp_filters=item_id%3AMLM4354216406&amp;applied_product_filters=MLM2014119284&amp;from=gsh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www.mercadolibre.com.mx/jowvdy1d2dqr-omnidireccional-barcode-reader-usb-scanner-negro-usb/p/MLM64610931?pdp_filters=item_id:MLM2700677695#is_advertising=true&amp;searchVariation=MLM64610931&amp;backend_model=search-backend;unknown_supple_+v_domain&amp;be_origi" TargetMode="External"/><Relationship Id="rId4" Type="http://schemas.openxmlformats.org/officeDocument/2006/relationships/hyperlink" Target="https://acteck.com/products/monitor?_pos=3&amp;_sid=44242aca9&amp;_ss=r" TargetMode="External"/><Relationship Id="rId3" Type="http://schemas.openxmlformats.org/officeDocument/2006/relationships/hyperlink" Target="https://acteck.com/products/teclado-inspire-ti215?_pos=10&amp;_sid=cb3d95d9d&amp;_ss=r" TargetMode="External"/><Relationship Id="rId2" Type="http://schemas.openxmlformats.org/officeDocument/2006/relationships/hyperlink" Target="https://www.mercadolibre.com.mx/mouse-inalambrico-acteck-mi240-1200dpi-2-botones-usb-bat-aa/up/MLMU3893551645?pdp_filters=shipping:fulfillment#intervention_type=full&amp;position=1&amp;search_layout=grid&amp;type=cart_intervention&amp;tracking_id=cf16111e-0fd0-4097-9202-4" TargetMode="External"/><Relationship Id="rId1" Type="http://schemas.openxmlformats.org/officeDocument/2006/relationships/hyperlink" Target="https://www.mercadolibre.com.mx/dell-optiplex-3040-intel-core-i5-500-gb-intel-core-i5-6400-8-gb-incluye-es-un-kit-de-fabrica/p/MLM2014119284?product_trigger_id=MLM2014119280&amp;pdp_filters=item_id%3AMLM4354216406&amp;applied_product_filters=MLM2014119284&amp;from=gsh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 panose="020B0502040204020203"/>
              </a:rPr>
              <a:t>GymAccess</a:t>
            </a:r>
            <a:endParaRPr sz="6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Segoe UI" panose="020B0502040204020203"/>
              </a:rPr>
              <a:t>Sistema de gestión y control de acceso para tu gimnasio</a:t>
            </a:r>
            <a:endParaRPr sz="2400" b="1">
              <a:solidFill>
                <a:srgbClr val="E63946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BFCC"/>
                </a:solidFill>
                <a:latin typeface="Segoe UI" panose="020B0502040204020203"/>
              </a:rPr>
              <a:t>Propuesta para: </a:t>
            </a:r>
            <a:r>
              <a:rPr lang="es-MX" sz="1600" b="0">
                <a:solidFill>
                  <a:srgbClr val="BBBFCC"/>
                </a:solidFill>
                <a:latin typeface="Segoe UI" panose="020B0502040204020203"/>
              </a:rPr>
              <a:t>Round3Boxing</a:t>
            </a:r>
            <a:endParaRPr lang="es-MX" sz="1600" b="0">
              <a:solidFill>
                <a:srgbClr val="BBBFCC"/>
              </a:solidFill>
              <a:latin typeface="Segoe UI" panose="020B0502040204020203"/>
            </a:endParaRPr>
          </a:p>
          <a:p>
            <a:pPr algn="l"/>
            <a:r>
              <a:rPr sz="1600" b="0">
                <a:solidFill>
                  <a:srgbClr val="BBBFCC"/>
                </a:solidFill>
                <a:latin typeface="Segoe UI" panose="020B0502040204020203"/>
              </a:rPr>
              <a:t>Presenta: </a:t>
            </a:r>
            <a:r>
              <a:rPr lang="es-MX" sz="1600" b="0">
                <a:solidFill>
                  <a:srgbClr val="BBBFCC"/>
                </a:solidFill>
                <a:latin typeface="Segoe UI" panose="020B0502040204020203"/>
              </a:rPr>
              <a:t>Adrian Valencia</a:t>
            </a:r>
            <a:endParaRPr sz="1600" b="0">
              <a:solidFill>
                <a:srgbClr val="BBBFCC"/>
              </a:solidFill>
              <a:latin typeface="Segoe UI" panose="020B0502040204020203"/>
            </a:endParaRPr>
          </a:p>
          <a:p>
            <a:pPr algn="l"/>
            <a:r>
              <a:rPr sz="1600" b="0">
                <a:solidFill>
                  <a:srgbClr val="BBBFCC"/>
                </a:solidFill>
                <a:latin typeface="Segoe UI" panose="020B0502040204020203"/>
              </a:rPr>
              <a:t>Julio 2026</a:t>
            </a:r>
            <a:endParaRPr sz="1600" b="0">
              <a:solidFill>
                <a:srgbClr val="BBBFC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400" b="1">
                <a:solidFill>
                  <a:srgbClr val="1A1A2E"/>
                </a:solidFill>
                <a:latin typeface="Segoe UI" panose="020B0502040204020203"/>
              </a:rPr>
              <a:t>Puntos a Erradicar:</a:t>
            </a:r>
            <a:endParaRPr lang="es-MX"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1953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A1A2E"/>
                </a:solidFill>
                <a:latin typeface="Segoe UI" panose="020B0502040204020203"/>
              </a:rPr>
              <a:t>▪  Socios que entran con la membresía vencida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4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2E"/>
                </a:solidFill>
                <a:latin typeface="Segoe UI" panose="020B0502040204020203"/>
              </a:rPr>
              <a:t>▪  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R</a:t>
            </a:r>
            <a:r>
              <a:rPr sz="2400">
                <a:solidFill>
                  <a:srgbClr val="1A1A2E"/>
                </a:solidFill>
                <a:latin typeface="Segoe UI" panose="020B0502040204020203"/>
              </a:rPr>
              <a:t>egistros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 de cobranza</a:t>
            </a:r>
            <a:r>
              <a:rPr sz="2400">
                <a:solidFill>
                  <a:srgbClr val="1A1A2E"/>
                </a:solidFill>
                <a:latin typeface="Segoe UI" panose="020B0502040204020203"/>
              </a:rPr>
              <a:t> en papel o Excel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4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2E"/>
                </a:solidFill>
                <a:latin typeface="Segoe UI" panose="020B0502040204020203"/>
              </a:rPr>
              <a:t>▪ 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 Desconocimiento del total de </a:t>
            </a:r>
            <a:r>
              <a:rPr sz="2400">
                <a:solidFill>
                  <a:srgbClr val="1A1A2E"/>
                </a:solidFill>
                <a:latin typeface="Segoe UI" panose="020B0502040204020203"/>
              </a:rPr>
              <a:t>socios activos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4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2E"/>
                </a:solidFill>
                <a:latin typeface="Segoe UI" panose="020B0502040204020203"/>
              </a:rPr>
              <a:t>▪  Recepción saturada en horas pico</a:t>
            </a:r>
            <a:r>
              <a:rPr lang="es-MX" sz="24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lang="es-MX" sz="2400">
              <a:solidFill>
                <a:srgbClr val="1A1A2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GymAccess: todo tu gimnasio en una sola pantalla</a:t>
            </a:r>
            <a:endParaRPr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Gestión de socios y membresías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Registro de pagos y cobranza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Control de acceso con código QR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Dashboard con reportes en tiempo real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100% en la nube: accede desde cualquier dispositivo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lang="es-MX" sz="2200">
              <a:solidFill>
                <a:srgbClr val="1A1A2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Check-in en 2 segundos</a:t>
            </a:r>
            <a:endParaRPr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356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1. El socio muestra su código QR (celular o credencial impresa)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2. Recepción lo escanea con el lector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3. El sistema valida su membresía al instante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lang="es-MX"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▪  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4</a:t>
            </a: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. 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Membresía </a:t>
            </a: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v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á</a:t>
            </a: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lida 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= check en verde.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5</a:t>
            </a:r>
            <a:r>
              <a:rPr sz="2200">
                <a:solidFill>
                  <a:srgbClr val="1A1A2E"/>
                </a:solidFill>
                <a:latin typeface="Segoe UI" panose="020B0502040204020203"/>
              </a:rPr>
              <a:t>. Membresía vencida = acceso denegado automáticamente. Se acabó la morosidad.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▪  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6</a:t>
            </a: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. 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Membresía próxima a vencer = recordatorio sobre </a:t>
            </a:r>
            <a:r>
              <a:rPr sz="2200">
                <a:solidFill>
                  <a:srgbClr val="1A1A2E"/>
                </a:solidFill>
                <a:latin typeface="Segoe UI" panose="020B0502040204020203"/>
                <a:sym typeface="+mn-ea"/>
              </a:rPr>
              <a:t>su membresía al instante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  <a:sym typeface="+mn-ea"/>
              </a:rPr>
              <a:t>.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endParaRPr sz="2200">
              <a:solidFill>
                <a:srgbClr val="1A1A2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Lo que incluye tu Plan Arranque</a:t>
            </a:r>
            <a:endParaRPr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56080"/>
            <a:ext cx="10332720" cy="301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Gestión de socios y membresías</a:t>
            </a:r>
            <a:r>
              <a:rPr lang="es-MX" sz="20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Planes: mensualidad, visita suelta, </a:t>
            </a:r>
            <a:r>
              <a:rPr lang="es-MX" sz="2000">
                <a:solidFill>
                  <a:srgbClr val="1A1A2E"/>
                </a:solidFill>
                <a:latin typeface="Segoe UI" panose="020B0502040204020203"/>
              </a:rPr>
              <a:t>promoción por meses, promocion por pareja.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Registro de pagos y cobranza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Dashboard y reportes esenciales</a:t>
            </a:r>
            <a:r>
              <a:rPr lang="es-MX" sz="2000">
                <a:solidFill>
                  <a:srgbClr val="1A1A2E"/>
                </a:solidFill>
                <a:latin typeface="Segoe UI" panose="020B0502040204020203"/>
              </a:rPr>
              <a:t> y estadisticas.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Control de acceso por QR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Soporte por correo / WhatsApp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2E"/>
                </a:solidFill>
                <a:latin typeface="Segoe UI" panose="020B0502040204020203"/>
              </a:rPr>
              <a:t>▪  Actualizaciones incluidas</a:t>
            </a:r>
            <a:endParaRPr sz="2000">
              <a:solidFill>
                <a:srgbClr val="1A1A2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Equipo necesario (inversión única)</a:t>
            </a:r>
            <a:endParaRPr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966978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62200"/>
                <a:gridCol w="34671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Equipo</a:t>
                      </a:r>
                      <a:endParaRPr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Enlace</a:t>
                      </a:r>
                      <a:endParaRPr lang="es-MX" altLang="en-US"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Precio aprox. (MXN)</a:t>
                      </a:r>
                      <a:endParaRPr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Mini PC 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o PC seminueva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1" tooltip="" action="ppaction://hlinkfile"/>
                        </a:rPr>
                        <a:t>mercado_libre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$2,000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- 2300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T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eclado y mouse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2" tooltip="" action="ppaction://hlinkfile"/>
                        </a:rPr>
                        <a:t>mouse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 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3" tooltip="" action="ppaction://hlinkfile"/>
                        </a:rPr>
                        <a:t>teclado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424 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  <a:sym typeface="+mn-ea"/>
                        </a:rPr>
                        <a:t>Monitor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marcketplace 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4" tooltip="" action="ppaction://hlinkfile"/>
                        </a:rPr>
                        <a:t>acteck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$900 - 1600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Lector de código QR USB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5" tooltip="" action="ppaction://hlinkfile"/>
                        </a:rPr>
                        <a:t>ml_1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6" tooltip="" action="ppaction://hlinkfile"/>
                        </a:rPr>
                        <a:t>ml_2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$3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99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– 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8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00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TOTAL EQUIPO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$3,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700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– $5,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2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00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54880"/>
            <a:ext cx="103327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 panose="020B0502040204020203"/>
              </a:rPr>
              <a:t>Precios de referencia (Mercado Libre / </a:t>
            </a:r>
            <a:r>
              <a:rPr lang="es-MX" sz="1400" b="0">
                <a:solidFill>
                  <a:srgbClr val="555B6E"/>
                </a:solidFill>
                <a:latin typeface="Segoe UI" panose="020B0502040204020203"/>
              </a:rPr>
              <a:t>Acteck / Facebook MP</a:t>
            </a:r>
            <a:r>
              <a:rPr sz="1400" b="0">
                <a:solidFill>
                  <a:srgbClr val="555B6E"/>
                </a:solidFill>
                <a:latin typeface="Segoe UI" panose="020B0502040204020203"/>
              </a:rPr>
              <a:t>). El equipo es tuyo, pago único.</a:t>
            </a:r>
            <a:endParaRPr sz="1400" b="0">
              <a:solidFill>
                <a:srgbClr val="555B6E"/>
              </a:solidFill>
              <a:latin typeface="Segoe UI" panose="020B0502040204020203"/>
            </a:endParaRPr>
          </a:p>
          <a:p>
            <a:pPr algn="l"/>
            <a:r>
              <a:rPr sz="1400" b="0">
                <a:solidFill>
                  <a:srgbClr val="555B6E"/>
                </a:solidFill>
                <a:latin typeface="Segoe UI" panose="020B0502040204020203"/>
              </a:rPr>
              <a:t>Si ya tienes computadora, solo necesitas el lector QR (~$500).</a:t>
            </a:r>
            <a:endParaRPr sz="1400" b="0">
              <a:solidFill>
                <a:srgbClr val="555B6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Inversión</a:t>
            </a:r>
            <a:r>
              <a:rPr lang="es-MX" sz="3400" b="1">
                <a:solidFill>
                  <a:srgbClr val="1A1A2E"/>
                </a:solidFill>
                <a:latin typeface="Segoe UI" panose="020B0502040204020203"/>
              </a:rPr>
              <a:t>:</a:t>
            </a:r>
            <a:endParaRPr lang="es-MX"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Concepto</a:t>
                      </a:r>
                      <a:endParaRPr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Precio (MXN)</a:t>
                      </a:r>
                      <a:endParaRPr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Suscripción mensual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5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99 / mes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Instalación y configuración inicial (pago único)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$2,000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Capacitación de tu personal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Incluida en la instalación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06240"/>
            <a:ext cx="10332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946"/>
                </a:solidFill>
                <a:latin typeface="Segoe UI" panose="020B0502040204020203"/>
              </a:rPr>
              <a:t>GymAccess cuesta menos </a:t>
            </a:r>
            <a:r>
              <a:rPr lang="es-MX" sz="1600" b="1">
                <a:solidFill>
                  <a:srgbClr val="E63946"/>
                </a:solidFill>
                <a:latin typeface="Segoe UI" panose="020B0502040204020203"/>
              </a:rPr>
              <a:t>y</a:t>
            </a:r>
            <a:r>
              <a:rPr sz="1600" b="1">
                <a:solidFill>
                  <a:srgbClr val="E63946"/>
                </a:solidFill>
                <a:latin typeface="Segoe UI" panose="020B0502040204020203"/>
              </a:rPr>
              <a:t> se paga solo reduciendo la morosidad.</a:t>
            </a:r>
            <a:endParaRPr sz="1600" b="1">
              <a:solidFill>
                <a:srgbClr val="E63946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¿Qué necesita tu gimnasio?</a:t>
            </a:r>
            <a:endParaRPr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1363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Internet estable (10 Mbps es suficiente)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Un navegador web (Chrome, Edge…)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¡Eso es todo! Nosotros nos encargamos del servidor, respaldos y seguridad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Segoe UI" panose="020B0502040204020203"/>
              </a:rPr>
              <a:t>Crece cuando tú quieras</a:t>
            </a:r>
            <a:endParaRPr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Acceso por huella digital (lector desde ~$1,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4</a:t>
            </a:r>
            <a:r>
              <a:rPr sz="2200">
                <a:solidFill>
                  <a:srgbClr val="1A1A2E"/>
                </a:solidFill>
                <a:latin typeface="Segoe UI" panose="020B0502040204020203"/>
              </a:rPr>
              <a:t>00)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Acceso RFID / tarjetas de proximidad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Gestión de clases, coaches y cupos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Control de gastos y reportes financieros</a:t>
            </a:r>
            <a:endParaRPr sz="2200">
              <a:solidFill>
                <a:srgbClr val="1A1A2E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2E"/>
                </a:solidFill>
                <a:latin typeface="Segoe UI" panose="020B0502040204020203"/>
              </a:rPr>
              <a:t>▪  Multi-sucursal</a:t>
            </a:r>
            <a:r>
              <a:rPr lang="es-MX" sz="2200">
                <a:solidFill>
                  <a:srgbClr val="1A1A2E"/>
                </a:solidFill>
                <a:latin typeface="Segoe UI" panose="020B0502040204020203"/>
              </a:rPr>
              <a:t>.</a:t>
            </a:r>
            <a:endParaRPr lang="es-MX" sz="2200">
              <a:solidFill>
                <a:srgbClr val="1A1A2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5320" y="365760"/>
            <a:ext cx="1088136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400" b="1">
                <a:solidFill>
                  <a:srgbClr val="1A1A2E"/>
                </a:solidFill>
                <a:latin typeface="Segoe UI" panose="020B0502040204020203"/>
              </a:rPr>
              <a:t>Mi propuesta por computador:</a:t>
            </a:r>
            <a:endParaRPr lang="es-MX" sz="3400" b="1">
              <a:solidFill>
                <a:srgbClr val="1A1A2E"/>
              </a:solidFill>
              <a:latin typeface="Segoe UI" panose="020B0502040204020203"/>
            </a:endParaRP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14400" y="1630680"/>
          <a:ext cx="966978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30"/>
                <a:gridCol w="2165870"/>
                <a:gridCol w="1601330"/>
                <a:gridCol w="2073910"/>
                <a:gridCol w="216624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Equipo</a:t>
                      </a:r>
                      <a:endParaRPr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Enlace</a:t>
                      </a:r>
                      <a:endParaRPr lang="es-MX" altLang="en-US"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Extras</a:t>
                      </a:r>
                      <a:endParaRPr lang="es-MX" altLang="en-US"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Ventajas</a:t>
                      </a:r>
                      <a:endParaRPr lang="es-MX" altLang="en-US"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Precio aprox. (MXN)</a:t>
                      </a:r>
                      <a:endParaRPr sz="16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PC SFF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1" action="ppaction://hlinkfile"/>
                        </a:rPr>
                        <a:t>mercado_libre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SDD, tarjeta wifi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Mejora rendimiento, evita el uso de cable ethernet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2300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T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eclado y mouse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2" action="ppaction://hlinkfile"/>
                        </a:rPr>
                        <a:t>mouse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 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3" action="ppaction://hlinkfile"/>
                        </a:rPr>
                        <a:t>teclado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Inálambrico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Evitar cables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424 </a:t>
                      </a:r>
                      <a:endParaRPr lang="es-MX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  <a:sym typeface="+mn-ea"/>
                        </a:rPr>
                        <a:t>Monitor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marketplace 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4" action="ppaction://hlinkfile"/>
                        </a:rPr>
                        <a:t>acteck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$900 - 1600 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Lector de código QR USB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</a:t>
                      </a: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  <a:hlinkClick r:id="rId5" action="ppaction://hlinkfile"/>
                        </a:rPr>
                        <a:t>ml_2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Mejores reseñas</a:t>
                      </a: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8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00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TOTAL EQUIPO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s-MX" altLang="en-US"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$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4,424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 – $5,</a:t>
                      </a:r>
                      <a:r>
                        <a:rPr lang="es-MX"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2</a:t>
                      </a:r>
                      <a:r>
                        <a:rPr sz="1600">
                          <a:solidFill>
                            <a:srgbClr val="1A1A2E"/>
                          </a:solidFill>
                          <a:latin typeface="Segoe UI" panose="020B0502040204020203"/>
                        </a:rPr>
                        <a:t>00</a:t>
                      </a:r>
                      <a:endParaRPr sz="1600">
                        <a:solidFill>
                          <a:srgbClr val="1A1A2E"/>
                        </a:solidFill>
                        <a:latin typeface="Segoe UI" panose="020B0502040204020203"/>
                      </a:endParaRPr>
                    </a:p>
                  </a:txBody>
                  <a:tcPr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 panose="020B0502040204020203"/>
              </a:rPr>
              <a:t>Empecemos esta semana</a:t>
            </a:r>
            <a:endParaRPr sz="4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83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Segoe UI" panose="020B0502040204020203"/>
              </a:rPr>
              <a:t>▪  1. Confirmamos el plan y compramos el equipo</a:t>
            </a:r>
            <a:endParaRPr sz="2200">
              <a:solidFill>
                <a:srgbClr val="FFFFFF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Segoe UI" panose="020B0502040204020203"/>
              </a:rPr>
              <a:t>▪  2. Instalamos y configuramos el sistema (1 día)</a:t>
            </a:r>
            <a:endParaRPr sz="2200">
              <a:solidFill>
                <a:srgbClr val="FFFFFF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Segoe UI" panose="020B0502040204020203"/>
              </a:rPr>
              <a:t>▪  3. Capacitamos a tu personal</a:t>
            </a:r>
            <a:r>
              <a:rPr lang="es-MX" sz="2200">
                <a:solidFill>
                  <a:srgbClr val="FFFFFF"/>
                </a:solidFill>
                <a:latin typeface="Segoe UI" panose="020B0502040204020203"/>
              </a:rPr>
              <a:t> </a:t>
            </a:r>
            <a:endParaRPr sz="2200">
              <a:solidFill>
                <a:srgbClr val="FFFFFF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Segoe UI" panose="020B0502040204020203"/>
              </a:rPr>
              <a:t>▪  4. Migramos tus socios actuales</a:t>
            </a:r>
            <a:r>
              <a:rPr lang="es-MX" sz="2200">
                <a:solidFill>
                  <a:srgbClr val="FFFFFF"/>
                </a:solidFill>
                <a:latin typeface="Segoe UI" panose="020B0502040204020203"/>
              </a:rPr>
              <a:t> (Tiempo sobre disponibilidad)</a:t>
            </a:r>
            <a:endParaRPr lang="es-MX" sz="220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3327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3946"/>
                </a:solidFill>
                <a:latin typeface="Segoe UI" panose="020B0502040204020203"/>
              </a:rPr>
              <a:t>Contacto: </a:t>
            </a:r>
            <a:r>
              <a:rPr lang="es-MX" sz="1800" b="1">
                <a:solidFill>
                  <a:srgbClr val="E63946"/>
                </a:solidFill>
                <a:latin typeface="Segoe UI" panose="020B0502040204020203"/>
              </a:rPr>
              <a:t>Adrian Valencia</a:t>
            </a:r>
            <a:r>
              <a:rPr sz="1800" b="1">
                <a:solidFill>
                  <a:srgbClr val="E63946"/>
                </a:solidFill>
                <a:latin typeface="Segoe UI" panose="020B0502040204020203"/>
              </a:rPr>
              <a:t> · </a:t>
            </a:r>
            <a:r>
              <a:rPr lang="es-MX" sz="1800" b="1">
                <a:solidFill>
                  <a:srgbClr val="E63946"/>
                </a:solidFill>
                <a:latin typeface="Segoe UI" panose="020B0502040204020203"/>
              </a:rPr>
              <a:t>3322332046</a:t>
            </a:r>
            <a:r>
              <a:rPr sz="1800" b="1">
                <a:solidFill>
                  <a:srgbClr val="E63946"/>
                </a:solidFill>
                <a:latin typeface="Segoe UI" panose="020B0502040204020203"/>
              </a:rPr>
              <a:t> · </a:t>
            </a:r>
            <a:r>
              <a:rPr lang="es-MX" sz="1800" b="1">
                <a:solidFill>
                  <a:srgbClr val="E63946"/>
                </a:solidFill>
                <a:latin typeface="Segoe UI" panose="020B0502040204020203"/>
              </a:rPr>
              <a:t>angel10000sv@gmail.com</a:t>
            </a:r>
            <a:endParaRPr lang="es-MX" sz="1800" b="1">
              <a:solidFill>
                <a:srgbClr val="E63946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</Words>
  <Application>WPS Presentation</Application>
  <PresentationFormat>On-screen Show (4:3)</PresentationFormat>
  <Paragraphs>175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Ángel Adrián</cp:lastModifiedBy>
  <cp:revision>21</cp:revision>
  <dcterms:created xsi:type="dcterms:W3CDTF">2013-01-27T09:14:00Z</dcterms:created>
  <dcterms:modified xsi:type="dcterms:W3CDTF">2026-07-20T02:43:59Z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2058-12.1.0.27458</vt:lpwstr>
  </property>
  <property fmtid="{D5CDD505-2E9C-101B-9397-08002B2CF9AE}" pid="3" name="ICV">
    <vt:lpwstr>34B172B3DAB349E9BBBA90C487F04DD3_12</vt:lpwstr>
  </property>
</Properties>
</file>